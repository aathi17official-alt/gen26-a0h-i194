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1" r:id="rId1"/>
    <p:sldMasterId id="2147483653" r:id="rId2"/>
  </p:sldMasterIdLst>
  <p:notesMasterIdLst>
    <p:notesMasterId r:id="rId11"/>
  </p:notesMasterIdLst>
  <p:sldIdLst>
    <p:sldId id="263" r:id="rId3"/>
    <p:sldId id="266" r:id="rId4"/>
    <p:sldId id="256" r:id="rId5"/>
    <p:sldId id="257" r:id="rId6"/>
    <p:sldId id="258" r:id="rId7"/>
    <p:sldId id="259" r:id="rId8"/>
    <p:sldId id="260" r:id="rId9"/>
    <p:sldId id="261" r:id="rId10"/>
  </p:sldIdLst>
  <p:sldSz cx="12192000" cy="6858000"/>
  <p:notesSz cx="6858000" cy="12192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9" d="100"/>
          <a:sy n="69" d="100"/>
        </p:scale>
        <p:origin x="540"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
        <p:cNvGrpSpPr/>
        <p:nvPr/>
      </p:nvGrpSpPr>
      <p:grpSpPr>
        <a:xfrm>
          <a:off x="0" y="0"/>
          <a:ext cx="0" cy="0"/>
          <a:chOff x="0" y="0"/>
          <a:chExt cx="0" cy="0"/>
        </a:xfrm>
      </p:grpSpPr>
      <p:sp>
        <p:nvSpPr>
          <p:cNvPr id="25" name="Google Shape;2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 name="Google Shape;26;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 name="Google Shape;27;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 name="Google Shape;42;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 name="Google Shape;43;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 name="Google Shape;57;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 name="Google Shape;58;p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 name="Google Shape;71;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 name="Google Shape;72;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 name="Google Shape;85;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 name="Google Shape;100;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GENESIS COVER">
  <p:cSld name="GENESIS COVER">
    <p:bg>
      <p:bgPr>
        <a:solidFill>
          <a:schemeClr val="dk2"/>
        </a:solidFill>
        <a:effectLst/>
      </p:bgPr>
    </p:bg>
    <p:spTree>
      <p:nvGrpSpPr>
        <p:cNvPr id="1" name="Shape 11"/>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GENESIS CONTENT">
  <p:cSld name="GENESIS CONTENT">
    <p:bg>
      <p:bgPr>
        <a:solidFill>
          <a:schemeClr val="lt2"/>
        </a:solidFill>
        <a:effectLst/>
      </p:bgPr>
    </p:bg>
    <p:spTree>
      <p:nvGrpSpPr>
        <p:cNvPr id="1" name="Shape 12"/>
        <p:cNvGrpSpPr/>
        <p:nvPr/>
      </p:nvGrpSpPr>
      <p:grpSpPr>
        <a:xfrm>
          <a:off x="0" y="0"/>
          <a:ext cx="0" cy="0"/>
          <a:chOff x="0" y="0"/>
          <a:chExt cx="0" cy="0"/>
        </a:xfrm>
      </p:grpSpPr>
      <p:sp>
        <p:nvSpPr>
          <p:cNvPr id="13" name="Google Shape;13;p3"/>
          <p:cNvSpPr/>
          <p:nvPr/>
        </p:nvSpPr>
        <p:spPr>
          <a:xfrm>
            <a:off x="10911535" y="320040"/>
            <a:ext cx="822960" cy="822960"/>
          </a:xfrm>
          <a:prstGeom prst="roundRect">
            <a:avLst>
              <a:gd name="adj" fmla="val 13333"/>
            </a:avLst>
          </a:prstGeom>
          <a:solidFill>
            <a:schemeClr val="lt1"/>
          </a:solidFill>
          <a:ln w="9525"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pic>
        <p:nvPicPr>
          <p:cNvPr id="14" name="Google Shape;14;p3" descr="Genesis logo"/>
          <p:cNvPicPr preferRelativeResize="0"/>
          <p:nvPr/>
        </p:nvPicPr>
        <p:blipFill rotWithShape="1">
          <a:blip r:embed="rId2">
            <a:alphaModFix/>
          </a:blip>
          <a:srcRect/>
          <a:stretch/>
        </p:blipFill>
        <p:spPr>
          <a:xfrm>
            <a:off x="11055950" y="384048"/>
            <a:ext cx="534131" cy="694944"/>
          </a:xfrm>
          <a:prstGeom prst="rect">
            <a:avLst/>
          </a:prstGeom>
          <a:noFill/>
          <a:ln>
            <a:noFill/>
          </a:ln>
        </p:spPr>
      </p:pic>
      <p:sp>
        <p:nvSpPr>
          <p:cNvPr id="15" name="Google Shape;15;p3"/>
          <p:cNvSpPr/>
          <p:nvPr/>
        </p:nvSpPr>
        <p:spPr>
          <a:xfrm>
            <a:off x="0" y="6355080"/>
            <a:ext cx="12191695" cy="50292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3"/>
          <p:cNvSpPr/>
          <p:nvPr/>
        </p:nvSpPr>
        <p:spPr>
          <a:xfrm>
            <a:off x="2286000" y="6355080"/>
            <a:ext cx="7619695"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accent6"/>
              </a:buClr>
              <a:buSzPts val="1050"/>
              <a:buFont typeface="Calibri"/>
              <a:buNone/>
            </a:pPr>
            <a:r>
              <a:rPr lang="en-US" sz="1050" b="0" i="0" u="none" strike="noStrike" cap="none" spc="100">
                <a:solidFill>
                  <a:schemeClr val="accent6"/>
                </a:solidFill>
                <a:latin typeface="Calibri"/>
                <a:ea typeface="Calibri"/>
                <a:cs typeface="Calibri"/>
                <a:sym typeface="Calibri"/>
              </a:rPr>
              <a:t>Genesis Ideathon – Pre-Ideathon Template</a:t>
            </a:r>
            <a:endParaRPr sz="1050" b="0" i="0" u="none" strike="noStrike" cap="none">
              <a:solidFill>
                <a:schemeClr val="dk1"/>
              </a:solidFill>
              <a:latin typeface="Calibri"/>
              <a:ea typeface="Calibri"/>
              <a:cs typeface="Calibri"/>
              <a:sym typeface="Calibri"/>
            </a:endParaRPr>
          </a:p>
        </p:txBody>
      </p:sp>
      <p:sp>
        <p:nvSpPr>
          <p:cNvPr id="17" name="Google Shape;17;p3"/>
          <p:cNvSpPr/>
          <p:nvPr/>
        </p:nvSpPr>
        <p:spPr>
          <a:xfrm>
            <a:off x="11259007" y="6409944"/>
            <a:ext cx="457200" cy="395935"/>
          </a:xfrm>
          <a:prstGeom prst="hexagon">
            <a:avLst>
              <a:gd name="adj" fmla="val 25000"/>
              <a:gd name="vf" fmla="val 115470"/>
            </a:avLst>
          </a:pr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
        <p:nvSpPr>
          <p:cNvPr id="18" name="Google Shape;18;p3"/>
          <p:cNvSpPr/>
          <p:nvPr/>
        </p:nvSpPr>
        <p:spPr>
          <a:xfrm rot="5400000">
            <a:off x="10610311" y="4686300"/>
            <a:ext cx="1425408" cy="1234440"/>
          </a:xfrm>
          <a:prstGeom prst="hexagon">
            <a:avLst>
              <a:gd name="adj" fmla="val 25000"/>
              <a:gd name="vf" fmla="val 115470"/>
            </a:avLst>
          </a:prstGeom>
          <a:noFill/>
          <a:ln w="15875" cap="flat" cmpd="sng">
            <a:solidFill>
              <a:schemeClr val="accent4">
                <a:alpha val="27843"/>
              </a:schemeClr>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
        <p:nvSpPr>
          <p:cNvPr id="19" name="Google Shape;19;p3"/>
          <p:cNvSpPr/>
          <p:nvPr/>
        </p:nvSpPr>
        <p:spPr>
          <a:xfrm rot="5400000">
            <a:off x="9750599" y="5349240"/>
            <a:ext cx="950272" cy="822960"/>
          </a:xfrm>
          <a:prstGeom prst="hexagon">
            <a:avLst>
              <a:gd name="adj" fmla="val 25000"/>
              <a:gd name="vf" fmla="val 115470"/>
            </a:avLst>
          </a:prstGeom>
          <a:noFill/>
          <a:ln w="15875" cap="flat" cmpd="sng">
            <a:solidFill>
              <a:schemeClr val="accent4">
                <a:alpha val="20000"/>
              </a:schemeClr>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
        <p:nvSpPr>
          <p:cNvPr id="20" name="Google Shape;20;p3"/>
          <p:cNvSpPr/>
          <p:nvPr/>
        </p:nvSpPr>
        <p:spPr>
          <a:xfrm rot="5400000">
            <a:off x="11579399" y="3840480"/>
            <a:ext cx="950272" cy="822960"/>
          </a:xfrm>
          <a:prstGeom prst="hexagon">
            <a:avLst>
              <a:gd name="adj" fmla="val 25000"/>
              <a:gd name="vf" fmla="val 115470"/>
            </a:avLst>
          </a:prstGeom>
          <a:noFill/>
          <a:ln w="15875" cap="flat" cmpd="sng">
            <a:solidFill>
              <a:schemeClr val="accent4">
                <a:alpha val="18039"/>
              </a:schemeClr>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
        <p:nvSpPr>
          <p:cNvPr id="21" name="Google Shape;21;p3"/>
          <p:cNvSpPr txBox="1">
            <a:spLocks noGrp="1"/>
          </p:cNvSpPr>
          <p:nvPr>
            <p:ph type="title"/>
          </p:nvPr>
        </p:nvSpPr>
        <p:spPr>
          <a:xfrm>
            <a:off x="3246120" y="320040"/>
            <a:ext cx="7498080" cy="82296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2"/>
              </a:buClr>
              <a:buSzPts val="2400"/>
              <a:buFont typeface="Cambria"/>
              <a:buNone/>
              <a:defRPr sz="2400" b="1" i="0" u="none" strike="noStrike" cap="none" spc="100">
                <a:solidFill>
                  <a:schemeClr val="dk2"/>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2" name="Google Shape;22;p3"/>
          <p:cNvSpPr txBox="1">
            <a:spLocks noGrp="1"/>
          </p:cNvSpPr>
          <p:nvPr>
            <p:ph type="sldNum" idx="12"/>
          </p:nvPr>
        </p:nvSpPr>
        <p:spPr>
          <a:xfrm>
            <a:off x="11259007" y="6409944"/>
            <a:ext cx="457200" cy="395935"/>
          </a:xfrm>
          <a:prstGeom prst="rect">
            <a:avLst/>
          </a:prstGeom>
          <a:noFill/>
          <a:ln>
            <a:noFill/>
          </a:ln>
        </p:spPr>
        <p:txBody>
          <a:bodyPr spcFirstLastPara="1" wrap="square" lIns="0" tIns="0" rIns="0" bIns="0" anchor="ctr" anchorCtr="0">
            <a:noAutofit/>
          </a:bodyPr>
          <a:lstStyle>
            <a:lvl1pPr marL="0" marR="0" lvl="0" indent="0" algn="ctr">
              <a:spcBef>
                <a:spcPts val="0"/>
              </a:spcBef>
              <a:buNone/>
              <a:defRPr sz="1100" b="1" i="0" u="none" strike="noStrike" cap="none">
                <a:solidFill>
                  <a:schemeClr val="dk2"/>
                </a:solidFill>
                <a:latin typeface="Calibri"/>
                <a:ea typeface="Calibri"/>
                <a:cs typeface="Calibri"/>
                <a:sym typeface="Calibri"/>
              </a:defRPr>
            </a:lvl1pPr>
            <a:lvl2pPr marL="0" marR="0" lvl="1" indent="0" algn="ctr">
              <a:spcBef>
                <a:spcPts val="0"/>
              </a:spcBef>
              <a:buNone/>
              <a:defRPr sz="1100" b="1" i="0" u="none" strike="noStrike" cap="none">
                <a:solidFill>
                  <a:schemeClr val="dk2"/>
                </a:solidFill>
                <a:latin typeface="Calibri"/>
                <a:ea typeface="Calibri"/>
                <a:cs typeface="Calibri"/>
                <a:sym typeface="Calibri"/>
              </a:defRPr>
            </a:lvl2pPr>
            <a:lvl3pPr marL="0" marR="0" lvl="2" indent="0" algn="ctr">
              <a:spcBef>
                <a:spcPts val="0"/>
              </a:spcBef>
              <a:buNone/>
              <a:defRPr sz="1100" b="1" i="0" u="none" strike="noStrike" cap="none">
                <a:solidFill>
                  <a:schemeClr val="dk2"/>
                </a:solidFill>
                <a:latin typeface="Calibri"/>
                <a:ea typeface="Calibri"/>
                <a:cs typeface="Calibri"/>
                <a:sym typeface="Calibri"/>
              </a:defRPr>
            </a:lvl3pPr>
            <a:lvl4pPr marL="0" marR="0" lvl="3" indent="0" algn="ctr">
              <a:spcBef>
                <a:spcPts val="0"/>
              </a:spcBef>
              <a:buNone/>
              <a:defRPr sz="1100" b="1" i="0" u="none" strike="noStrike" cap="none">
                <a:solidFill>
                  <a:schemeClr val="dk2"/>
                </a:solidFill>
                <a:latin typeface="Calibri"/>
                <a:ea typeface="Calibri"/>
                <a:cs typeface="Calibri"/>
                <a:sym typeface="Calibri"/>
              </a:defRPr>
            </a:lvl4pPr>
            <a:lvl5pPr marL="0" marR="0" lvl="4" indent="0" algn="ctr">
              <a:spcBef>
                <a:spcPts val="0"/>
              </a:spcBef>
              <a:buNone/>
              <a:defRPr sz="1100" b="1" i="0" u="none" strike="noStrike" cap="none">
                <a:solidFill>
                  <a:schemeClr val="dk2"/>
                </a:solidFill>
                <a:latin typeface="Calibri"/>
                <a:ea typeface="Calibri"/>
                <a:cs typeface="Calibri"/>
                <a:sym typeface="Calibri"/>
              </a:defRPr>
            </a:lvl5pPr>
            <a:lvl6pPr marL="0" marR="0" lvl="5" indent="0" algn="ctr">
              <a:spcBef>
                <a:spcPts val="0"/>
              </a:spcBef>
              <a:buNone/>
              <a:defRPr sz="1100" b="1" i="0" u="none" strike="noStrike" cap="none">
                <a:solidFill>
                  <a:schemeClr val="dk2"/>
                </a:solidFill>
                <a:latin typeface="Calibri"/>
                <a:ea typeface="Calibri"/>
                <a:cs typeface="Calibri"/>
                <a:sym typeface="Calibri"/>
              </a:defRPr>
            </a:lvl6pPr>
            <a:lvl7pPr marL="0" marR="0" lvl="6" indent="0" algn="ctr">
              <a:spcBef>
                <a:spcPts val="0"/>
              </a:spcBef>
              <a:buNone/>
              <a:defRPr sz="1100" b="1" i="0" u="none" strike="noStrike" cap="none">
                <a:solidFill>
                  <a:schemeClr val="dk2"/>
                </a:solidFill>
                <a:latin typeface="Calibri"/>
                <a:ea typeface="Calibri"/>
                <a:cs typeface="Calibri"/>
                <a:sym typeface="Calibri"/>
              </a:defRPr>
            </a:lvl7pPr>
            <a:lvl8pPr marL="0" marR="0" lvl="7" indent="0" algn="ctr">
              <a:spcBef>
                <a:spcPts val="0"/>
              </a:spcBef>
              <a:buNone/>
              <a:defRPr sz="1100" b="1" i="0" u="none" strike="noStrike" cap="none">
                <a:solidFill>
                  <a:schemeClr val="dk2"/>
                </a:solidFill>
                <a:latin typeface="Calibri"/>
                <a:ea typeface="Calibri"/>
                <a:cs typeface="Calibri"/>
                <a:sym typeface="Calibri"/>
              </a:defRPr>
            </a:lvl8pPr>
            <a:lvl9pPr marL="0" marR="0" lvl="8" indent="0" algn="ctr">
              <a:spcBef>
                <a:spcPts val="0"/>
              </a:spcBef>
              <a:buNone/>
              <a:defRPr sz="1100" b="1" i="0" u="none" strike="noStrike" cap="none">
                <a:solidFill>
                  <a:schemeClr val="dk2"/>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b="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23"/>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52478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GENESIS COVER">
    <p:bg>
      <p:bgPr>
        <a:solidFill>
          <a:schemeClr val="tx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834198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GENESIS CONTENT">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10911535" y="320040"/>
            <a:ext cx="822960" cy="822960"/>
          </a:xfrm>
          <a:prstGeom prst="roundRect">
            <a:avLst>
              <a:gd name="adj" fmla="val 13333"/>
            </a:avLst>
          </a:prstGeom>
          <a:solidFill>
            <a:schemeClr val="bg1"/>
          </a:solidFill>
          <a:ln w="9525">
            <a:solidFill>
              <a:schemeClr val="accent6"/>
            </a:solidFill>
          </a:ln>
        </p:spPr>
        <p:txBody>
          <a:bodyPr wrap="square" rtlCol="0" anchor="ctr"/>
          <a:lstStyle/>
          <a:p>
            <a:pPr marL="0" indent="0">
              <a:buNone/>
            </a:pPr>
            <a:endParaRPr lang="en-US" dirty="0"/>
          </a:p>
        </p:txBody>
      </p:sp>
      <p:pic>
        <p:nvPicPr>
          <p:cNvPr id="3" name="Image 0" descr="Genesis logo"/>
          <p:cNvPicPr>
            <a:picLocks noChangeAspect="1"/>
          </p:cNvPicPr>
          <p:nvPr/>
        </p:nvPicPr>
        <p:blipFill>
          <a:blip r:embed="rId2"/>
          <a:stretch>
            <a:fillRect/>
          </a:stretch>
        </p:blipFill>
        <p:spPr>
          <a:xfrm>
            <a:off x="11055950" y="384048"/>
            <a:ext cx="534131" cy="694944"/>
          </a:xfrm>
          <a:prstGeom prst="rect">
            <a:avLst/>
          </a:prstGeom>
        </p:spPr>
      </p:pic>
      <p:sp>
        <p:nvSpPr>
          <p:cNvPr id="4" name="Shape 1"/>
          <p:cNvSpPr/>
          <p:nvPr/>
        </p:nvSpPr>
        <p:spPr>
          <a:xfrm>
            <a:off x="0" y="6355080"/>
            <a:ext cx="12191695" cy="502920"/>
          </a:xfrm>
          <a:prstGeom prst="rect">
            <a:avLst/>
          </a:prstGeom>
          <a:solidFill>
            <a:schemeClr val="tx2"/>
          </a:solidFill>
          <a:ln/>
        </p:spPr>
      </p:sp>
      <p:sp>
        <p:nvSpPr>
          <p:cNvPr id="5" name="Text 2"/>
          <p:cNvSpPr/>
          <p:nvPr/>
        </p:nvSpPr>
        <p:spPr>
          <a:xfrm>
            <a:off x="2286000" y="6355080"/>
            <a:ext cx="7619695" cy="502920"/>
          </a:xfrm>
          <a:prstGeom prst="rect">
            <a:avLst/>
          </a:prstGeom>
          <a:noFill/>
          <a:ln/>
        </p:spPr>
        <p:txBody>
          <a:bodyPr wrap="square" lIns="0" tIns="0" rIns="0" bIns="0" rtlCol="0" anchor="ctr"/>
          <a:lstStyle/>
          <a:p>
            <a:pPr marL="0" indent="0" algn="ctr">
              <a:buNone/>
            </a:pPr>
            <a:r>
              <a:rPr lang="en-US" sz="1050" kern="0" spc="100" dirty="0">
                <a:solidFill>
                  <a:schemeClr val="accent6"/>
                </a:solidFill>
              </a:rPr>
              <a:t>Genesis Ideathon – Pre-Ideathon Template</a:t>
            </a:r>
            <a:endParaRPr lang="en-US" sz="1050" dirty="0"/>
          </a:p>
        </p:txBody>
      </p:sp>
      <p:sp>
        <p:nvSpPr>
          <p:cNvPr id="6" name="Text 3"/>
          <p:cNvSpPr/>
          <p:nvPr/>
        </p:nvSpPr>
        <p:spPr>
          <a:xfrm>
            <a:off x="11259007" y="6409944"/>
            <a:ext cx="457200" cy="395935"/>
          </a:xfrm>
          <a:prstGeom prst="hexagon">
            <a:avLst/>
          </a:prstGeom>
          <a:solidFill>
            <a:schemeClr val="accent3"/>
          </a:solidFill>
          <a:ln/>
        </p:spPr>
        <p:txBody>
          <a:bodyPr wrap="square" rtlCol="0" anchor="ctr"/>
          <a:lstStyle/>
          <a:p>
            <a:pPr marL="0" indent="0">
              <a:buNone/>
            </a:pPr>
            <a:endParaRPr lang="en-US" dirty="0"/>
          </a:p>
        </p:txBody>
      </p:sp>
      <p:sp>
        <p:nvSpPr>
          <p:cNvPr id="7" name="Text 4"/>
          <p:cNvSpPr/>
          <p:nvPr/>
        </p:nvSpPr>
        <p:spPr>
          <a:xfrm rot="5400000">
            <a:off x="10610311" y="4686300"/>
            <a:ext cx="1425408" cy="1234440"/>
          </a:xfrm>
          <a:prstGeom prst="hexagon">
            <a:avLst/>
          </a:prstGeom>
          <a:ln w="15875">
            <a:solidFill>
              <a:schemeClr val="accent4">
                <a:alpha val="28000"/>
              </a:schemeClr>
            </a:solidFill>
          </a:ln>
        </p:spPr>
        <p:txBody>
          <a:bodyPr wrap="square" rtlCol="0" anchor="ctr"/>
          <a:lstStyle/>
          <a:p>
            <a:pPr marL="0" indent="0">
              <a:buNone/>
            </a:pPr>
            <a:endParaRPr lang="en-US" dirty="0"/>
          </a:p>
        </p:txBody>
      </p:sp>
      <p:sp>
        <p:nvSpPr>
          <p:cNvPr id="8" name="Text 5"/>
          <p:cNvSpPr/>
          <p:nvPr/>
        </p:nvSpPr>
        <p:spPr>
          <a:xfrm rot="5400000">
            <a:off x="9750599" y="5349240"/>
            <a:ext cx="950272" cy="822960"/>
          </a:xfrm>
          <a:prstGeom prst="hexagon">
            <a:avLst/>
          </a:prstGeom>
          <a:ln w="15875">
            <a:solidFill>
              <a:schemeClr val="accent4">
                <a:alpha val="20000"/>
              </a:schemeClr>
            </a:solidFill>
          </a:ln>
        </p:spPr>
        <p:txBody>
          <a:bodyPr wrap="square" rtlCol="0" anchor="ctr"/>
          <a:lstStyle/>
          <a:p>
            <a:pPr marL="0" indent="0">
              <a:buNone/>
            </a:pPr>
            <a:endParaRPr lang="en-US" dirty="0"/>
          </a:p>
        </p:txBody>
      </p:sp>
      <p:sp>
        <p:nvSpPr>
          <p:cNvPr id="9" name="Text 6"/>
          <p:cNvSpPr/>
          <p:nvPr/>
        </p:nvSpPr>
        <p:spPr>
          <a:xfrm rot="5400000">
            <a:off x="11579399" y="3840480"/>
            <a:ext cx="950272" cy="822960"/>
          </a:xfrm>
          <a:prstGeom prst="hexagon">
            <a:avLst/>
          </a:prstGeom>
          <a:ln w="15875">
            <a:solidFill>
              <a:schemeClr val="accent4">
                <a:alpha val="18000"/>
              </a:schemeClr>
            </a:solidFill>
          </a:ln>
        </p:spPr>
        <p:txBody>
          <a:bodyPr wrap="square" rtlCol="0" anchor="ctr"/>
          <a:lstStyle/>
          <a:p>
            <a:pPr marL="0" indent="0">
              <a:buNone/>
            </a:pPr>
            <a:endParaRPr lang="en-US" dirty="0"/>
          </a:p>
        </p:txBody>
      </p:sp>
      <p:sp>
        <p:nvSpPr>
          <p:cNvPr id="10" name="Text 7"/>
          <p:cNvSpPr>
            <a:spLocks noGrp="1"/>
          </p:cNvSpPr>
          <p:nvPr>
            <p:ph type="title" idx="108" hasCustomPrompt="1"/>
          </p:nvPr>
        </p:nvSpPr>
        <p:spPr>
          <a:xfrm>
            <a:off x="3246120" y="320040"/>
            <a:ext cx="7498080" cy="822960"/>
          </a:xfrm>
          <a:prstGeom prst="rect">
            <a:avLst/>
          </a:prstGeom>
          <a:noFill/>
          <a:ln/>
        </p:spPr>
        <p:txBody>
          <a:bodyPr wrap="square" rtlCol="0"/>
          <a:lstStyle>
            <a:lvl1pPr marL="0" indent="0" algn="ctr">
              <a:buNone/>
              <a:defRPr lang="en-US" sz="2400" b="1" kern="0" spc="100" dirty="0">
                <a:solidFill>
                  <a:schemeClr val="tx2"/>
                </a:solidFill>
                <a:latin typeface="Cambria" pitchFamily="34" charset="0"/>
                <a:ea typeface="Cambria" pitchFamily="34" charset="-122"/>
                <a:cs typeface="Cambria" pitchFamily="34" charset="-120"/>
              </a:defRPr>
            </a:lvl1pP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SLIDE TITLE</a:t>
            </a:r>
            <a:endParaRPr lang="en-US" sz="24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extLst>
      <p:ext uri="{BB962C8B-B14F-4D97-AF65-F5344CB8AC3E}">
        <p14:creationId xmlns:p14="http://schemas.microsoft.com/office/powerpoint/2010/main" val="355926050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
        <p:nvSpPr>
          <p:cNvPr id="10" name="Google Shape;10;p1"/>
          <p:cNvSpPr txBox="1">
            <a:spLocks noGrp="1"/>
          </p:cNvSpPr>
          <p:nvPr>
            <p:ph type="sldNum" idx="12"/>
          </p:nvPr>
        </p:nvSpPr>
        <p:spPr>
          <a:xfrm>
            <a:off x="11259007" y="6409944"/>
            <a:ext cx="457200" cy="395935"/>
          </a:xfrm>
          <a:prstGeom prst="rect">
            <a:avLst/>
          </a:prstGeom>
          <a:noFill/>
          <a:ln>
            <a:noFill/>
          </a:ln>
        </p:spPr>
        <p:txBody>
          <a:bodyPr spcFirstLastPara="1" wrap="square" lIns="0" tIns="0" rIns="0" bIns="0" anchor="ctr" anchorCtr="0">
            <a:noAutofit/>
          </a:bodyPr>
          <a:lstStyle>
            <a:lvl1pPr marL="0" marR="0" lvl="0" indent="0" algn="ctr" rtl="0">
              <a:spcBef>
                <a:spcPts val="0"/>
              </a:spcBef>
              <a:buNone/>
              <a:defRPr sz="1100" b="1" i="0" u="none" strike="noStrike" cap="none">
                <a:solidFill>
                  <a:schemeClr val="dk2"/>
                </a:solidFill>
                <a:latin typeface="Calibri"/>
                <a:ea typeface="Calibri"/>
                <a:cs typeface="Calibri"/>
                <a:sym typeface="Calibri"/>
              </a:defRPr>
            </a:lvl1pPr>
            <a:lvl2pPr marL="0" marR="0" lvl="1" indent="0" algn="ctr" rtl="0">
              <a:spcBef>
                <a:spcPts val="0"/>
              </a:spcBef>
              <a:buNone/>
              <a:defRPr sz="1100" b="1" i="0" u="none" strike="noStrike" cap="none">
                <a:solidFill>
                  <a:schemeClr val="dk2"/>
                </a:solidFill>
                <a:latin typeface="Calibri"/>
                <a:ea typeface="Calibri"/>
                <a:cs typeface="Calibri"/>
                <a:sym typeface="Calibri"/>
              </a:defRPr>
            </a:lvl2pPr>
            <a:lvl3pPr marL="0" marR="0" lvl="2" indent="0" algn="ctr" rtl="0">
              <a:spcBef>
                <a:spcPts val="0"/>
              </a:spcBef>
              <a:buNone/>
              <a:defRPr sz="1100" b="1" i="0" u="none" strike="noStrike" cap="none">
                <a:solidFill>
                  <a:schemeClr val="dk2"/>
                </a:solidFill>
                <a:latin typeface="Calibri"/>
                <a:ea typeface="Calibri"/>
                <a:cs typeface="Calibri"/>
                <a:sym typeface="Calibri"/>
              </a:defRPr>
            </a:lvl3pPr>
            <a:lvl4pPr marL="0" marR="0" lvl="3" indent="0" algn="ctr" rtl="0">
              <a:spcBef>
                <a:spcPts val="0"/>
              </a:spcBef>
              <a:buNone/>
              <a:defRPr sz="1100" b="1" i="0" u="none" strike="noStrike" cap="none">
                <a:solidFill>
                  <a:schemeClr val="dk2"/>
                </a:solidFill>
                <a:latin typeface="Calibri"/>
                <a:ea typeface="Calibri"/>
                <a:cs typeface="Calibri"/>
                <a:sym typeface="Calibri"/>
              </a:defRPr>
            </a:lvl4pPr>
            <a:lvl5pPr marL="0" marR="0" lvl="4" indent="0" algn="ctr" rtl="0">
              <a:spcBef>
                <a:spcPts val="0"/>
              </a:spcBef>
              <a:buNone/>
              <a:defRPr sz="1100" b="1" i="0" u="none" strike="noStrike" cap="none">
                <a:solidFill>
                  <a:schemeClr val="dk2"/>
                </a:solidFill>
                <a:latin typeface="Calibri"/>
                <a:ea typeface="Calibri"/>
                <a:cs typeface="Calibri"/>
                <a:sym typeface="Calibri"/>
              </a:defRPr>
            </a:lvl5pPr>
            <a:lvl6pPr marL="0" marR="0" lvl="5" indent="0" algn="ctr" rtl="0">
              <a:spcBef>
                <a:spcPts val="0"/>
              </a:spcBef>
              <a:buNone/>
              <a:defRPr sz="1100" b="1" i="0" u="none" strike="noStrike" cap="none">
                <a:solidFill>
                  <a:schemeClr val="dk2"/>
                </a:solidFill>
                <a:latin typeface="Calibri"/>
                <a:ea typeface="Calibri"/>
                <a:cs typeface="Calibri"/>
                <a:sym typeface="Calibri"/>
              </a:defRPr>
            </a:lvl6pPr>
            <a:lvl7pPr marL="0" marR="0" lvl="6" indent="0" algn="ctr" rtl="0">
              <a:spcBef>
                <a:spcPts val="0"/>
              </a:spcBef>
              <a:buNone/>
              <a:defRPr sz="1100" b="1" i="0" u="none" strike="noStrike" cap="none">
                <a:solidFill>
                  <a:schemeClr val="dk2"/>
                </a:solidFill>
                <a:latin typeface="Calibri"/>
                <a:ea typeface="Calibri"/>
                <a:cs typeface="Calibri"/>
                <a:sym typeface="Calibri"/>
              </a:defRPr>
            </a:lvl7pPr>
            <a:lvl8pPr marL="0" marR="0" lvl="7" indent="0" algn="ctr" rtl="0">
              <a:spcBef>
                <a:spcPts val="0"/>
              </a:spcBef>
              <a:buNone/>
              <a:defRPr sz="1100" b="1" i="0" u="none" strike="noStrike" cap="none">
                <a:solidFill>
                  <a:schemeClr val="dk2"/>
                </a:solidFill>
                <a:latin typeface="Calibri"/>
                <a:ea typeface="Calibri"/>
                <a:cs typeface="Calibri"/>
                <a:sym typeface="Calibri"/>
              </a:defRPr>
            </a:lvl8pPr>
            <a:lvl9pPr marL="0" marR="0" lvl="8" indent="0" algn="ctr" rtl="0">
              <a:spcBef>
                <a:spcPts val="0"/>
              </a:spcBef>
              <a:buNone/>
              <a:defRPr sz="1100" b="1" i="0" u="none" strike="noStrike" cap="none">
                <a:solidFill>
                  <a:schemeClr val="dk2"/>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b="0"/>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extLst>
      <p:ext uri="{BB962C8B-B14F-4D97-AF65-F5344CB8AC3E}">
        <p14:creationId xmlns:p14="http://schemas.microsoft.com/office/powerpoint/2010/main" val="3784909739"/>
      </p:ext>
    </p:extLst>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ver Hexagon"/>
          <p:cNvSpPr/>
          <p:nvPr/>
        </p:nvSpPr>
        <p:spPr>
          <a:xfrm rot="5400000">
            <a:off x="8841585" y="-1222527"/>
            <a:ext cx="3695502" cy="3200400"/>
          </a:xfrm>
          <a:prstGeom prst="hexagon">
            <a:avLst/>
          </a:prstGeom>
          <a:ln w="15875">
            <a:solidFill>
              <a:schemeClr val="accent4">
                <a:alpha val="50000"/>
              </a:schemeClr>
            </a:solidFill>
            <a:prstDash val="solid"/>
          </a:ln>
        </p:spPr>
      </p:sp>
      <p:sp>
        <p:nvSpPr>
          <p:cNvPr id="3" name="Cover Hexagon"/>
          <p:cNvSpPr/>
          <p:nvPr/>
        </p:nvSpPr>
        <p:spPr>
          <a:xfrm rot="5400000">
            <a:off x="10524081" y="1691640"/>
            <a:ext cx="3695502" cy="3200400"/>
          </a:xfrm>
          <a:prstGeom prst="hexagon">
            <a:avLst/>
          </a:prstGeom>
          <a:solidFill>
            <a:schemeClr val="accent1">
              <a:alpha val="25000"/>
            </a:schemeClr>
          </a:solidFill>
          <a:ln w="15875">
            <a:solidFill>
              <a:schemeClr val="accent4">
                <a:alpha val="45000"/>
              </a:schemeClr>
            </a:solidFill>
            <a:prstDash val="solid"/>
          </a:ln>
        </p:spPr>
      </p:sp>
      <p:sp>
        <p:nvSpPr>
          <p:cNvPr id="4" name="Cover Hexagon"/>
          <p:cNvSpPr/>
          <p:nvPr/>
        </p:nvSpPr>
        <p:spPr>
          <a:xfrm rot="5400000">
            <a:off x="8841585" y="4605807"/>
            <a:ext cx="3695502" cy="3200400"/>
          </a:xfrm>
          <a:prstGeom prst="hexagon">
            <a:avLst/>
          </a:prstGeom>
          <a:ln w="15875">
            <a:solidFill>
              <a:schemeClr val="accent4">
                <a:alpha val="50000"/>
              </a:schemeClr>
            </a:solidFill>
            <a:prstDash val="solid"/>
          </a:ln>
        </p:spPr>
      </p:sp>
      <p:sp>
        <p:nvSpPr>
          <p:cNvPr id="5" name="Cover Hexagon"/>
          <p:cNvSpPr/>
          <p:nvPr/>
        </p:nvSpPr>
        <p:spPr>
          <a:xfrm rot="5400000">
            <a:off x="6613359" y="3177540"/>
            <a:ext cx="580722" cy="502920"/>
          </a:xfrm>
          <a:prstGeom prst="hexagon">
            <a:avLst/>
          </a:prstGeom>
          <a:solidFill>
            <a:schemeClr val="accent3"/>
          </a:solidFill>
          <a:ln/>
        </p:spPr>
      </p:sp>
      <p:sp>
        <p:nvSpPr>
          <p:cNvPr id="6" name="Cover Hexagon"/>
          <p:cNvSpPr/>
          <p:nvPr/>
        </p:nvSpPr>
        <p:spPr>
          <a:xfrm rot="5400000">
            <a:off x="10849583" y="1728216"/>
            <a:ext cx="337874" cy="292608"/>
          </a:xfrm>
          <a:prstGeom prst="hexagon">
            <a:avLst/>
          </a:prstGeom>
          <a:solidFill>
            <a:schemeClr val="accent3">
              <a:alpha val="70000"/>
            </a:schemeClr>
          </a:solidFill>
          <a:ln/>
        </p:spPr>
      </p:sp>
      <p:sp>
        <p:nvSpPr>
          <p:cNvPr id="7" name="Cover Hexagon"/>
          <p:cNvSpPr/>
          <p:nvPr/>
        </p:nvSpPr>
        <p:spPr>
          <a:xfrm rot="5400000">
            <a:off x="6868728" y="1440180"/>
            <a:ext cx="4276224" cy="3703320"/>
          </a:xfrm>
          <a:prstGeom prst="hexagon">
            <a:avLst/>
          </a:prstGeom>
          <a:solidFill>
            <a:schemeClr val="accent1">
              <a:alpha val="45000"/>
            </a:schemeClr>
          </a:solidFill>
          <a:ln/>
        </p:spPr>
      </p:sp>
      <p:sp>
        <p:nvSpPr>
          <p:cNvPr id="8" name="Cover Hexagon"/>
          <p:cNvSpPr/>
          <p:nvPr/>
        </p:nvSpPr>
        <p:spPr>
          <a:xfrm rot="5400000">
            <a:off x="6755697" y="4800600"/>
            <a:ext cx="844686" cy="731520"/>
          </a:xfrm>
          <a:prstGeom prst="hexagon">
            <a:avLst/>
          </a:prstGeom>
          <a:ln w="19050">
            <a:solidFill>
              <a:schemeClr val="accent3">
                <a:alpha val="65000"/>
              </a:schemeClr>
            </a:solidFill>
            <a:prstDash val="solid"/>
          </a:ln>
        </p:spPr>
      </p:sp>
      <p:sp>
        <p:nvSpPr>
          <p:cNvPr id="9" name="Cover Hexagon"/>
          <p:cNvSpPr/>
          <p:nvPr/>
        </p:nvSpPr>
        <p:spPr>
          <a:xfrm rot="5400000">
            <a:off x="7159089" y="1691640"/>
            <a:ext cx="3695502" cy="3200400"/>
          </a:xfrm>
          <a:prstGeom prst="hexagon">
            <a:avLst/>
          </a:prstGeom>
          <a:solidFill>
            <a:schemeClr val="bg1"/>
          </a:solidFill>
          <a:ln w="38100">
            <a:solidFill>
              <a:schemeClr val="accent3"/>
            </a:solidFill>
            <a:prstDash val="solid"/>
          </a:ln>
        </p:spPr>
      </p:sp>
      <p:pic>
        <p:nvPicPr>
          <p:cNvPr id="10" name="Genesis Logo" descr="Genesis logo"/>
          <p:cNvPicPr>
            <a:picLocks noChangeAspect="1"/>
          </p:cNvPicPr>
          <p:nvPr/>
        </p:nvPicPr>
        <p:blipFill>
          <a:blip r:embed="rId3"/>
          <a:stretch>
            <a:fillRect/>
          </a:stretch>
        </p:blipFill>
        <p:spPr>
          <a:xfrm>
            <a:off x="8110766" y="2125980"/>
            <a:ext cx="1792148" cy="2331720"/>
          </a:xfrm>
          <a:prstGeom prst="rect">
            <a:avLst/>
          </a:prstGeom>
        </p:spPr>
      </p:pic>
      <p:sp>
        <p:nvSpPr>
          <p:cNvPr id="11" name="Kicker"/>
          <p:cNvSpPr txBox="1"/>
          <p:nvPr/>
        </p:nvSpPr>
        <p:spPr>
          <a:xfrm>
            <a:off x="548640" y="502920"/>
            <a:ext cx="5303520" cy="320040"/>
          </a:xfrm>
          <a:prstGeom prst="rect">
            <a:avLst/>
          </a:prstGeom>
          <a:noFill/>
          <a:ln/>
        </p:spPr>
        <p:txBody>
          <a:bodyPr wrap="square" lIns="0" tIns="0" rIns="0" bIns="0" rtlCol="0" anchor="ctr"/>
          <a:lstStyle/>
          <a:p>
            <a:pPr marL="0" indent="0">
              <a:buNone/>
            </a:pPr>
            <a:r>
              <a:rPr lang="en-US" sz="1200" b="1" kern="0" spc="400" dirty="0">
                <a:solidFill>
                  <a:schemeClr val="accent3"/>
                </a:solidFill>
              </a:rPr>
              <a:t>PRE-IDEATHON TEMPLATE</a:t>
            </a:r>
            <a:endParaRPr lang="en-US" sz="1200" dirty="0"/>
          </a:p>
        </p:txBody>
      </p:sp>
      <p:sp>
        <p:nvSpPr>
          <p:cNvPr id="12" name="Event Title"/>
          <p:cNvSpPr txBox="1"/>
          <p:nvPr/>
        </p:nvSpPr>
        <p:spPr>
          <a:xfrm>
            <a:off x="548640" y="868680"/>
            <a:ext cx="5669280" cy="1600200"/>
          </a:xfrm>
          <a:prstGeom prst="rect">
            <a:avLst/>
          </a:prstGeom>
          <a:noFill/>
          <a:ln/>
        </p:spPr>
        <p:txBody>
          <a:bodyPr wrap="square" lIns="0" tIns="0" rIns="0" bIns="0" rtlCol="0" anchor="t"/>
          <a:lstStyle/>
          <a:p>
            <a:pPr marL="0" indent="0">
              <a:lnSpc>
                <a:spcPct val="90000"/>
              </a:lnSpc>
              <a:buNone/>
            </a:pPr>
            <a:r>
              <a:rPr lang="en-US" sz="5400" b="1" kern="0" spc="200" dirty="0">
                <a:solidFill>
                  <a:schemeClr val="bg1"/>
                </a:solidFill>
                <a:latin typeface="Cambria" pitchFamily="34" charset="0"/>
                <a:ea typeface="Cambria" pitchFamily="34" charset="-122"/>
                <a:cs typeface="Cambria" pitchFamily="34" charset="-120"/>
              </a:rPr>
              <a:t>GENESIS</a:t>
            </a:r>
            <a:endParaRPr lang="en-US" sz="5400" dirty="0"/>
          </a:p>
          <a:p>
            <a:pPr marL="0" indent="0">
              <a:lnSpc>
                <a:spcPct val="90000"/>
              </a:lnSpc>
              <a:buNone/>
            </a:pPr>
            <a:r>
              <a:rPr lang="en-US" sz="5400" b="1" kern="0" spc="200" dirty="0">
                <a:solidFill>
                  <a:schemeClr val="accent3"/>
                </a:solidFill>
                <a:latin typeface="Cambria" pitchFamily="34" charset="0"/>
                <a:ea typeface="Cambria" pitchFamily="34" charset="-122"/>
                <a:cs typeface="Cambria" pitchFamily="34" charset="-120"/>
              </a:rPr>
              <a:t>IDEATHON</a:t>
            </a:r>
            <a:endParaRPr lang="en-US" sz="5400" dirty="0"/>
          </a:p>
        </p:txBody>
      </p:sp>
      <p:sp>
        <p:nvSpPr>
          <p:cNvPr id="13" name="Section Chip"/>
          <p:cNvSpPr/>
          <p:nvPr/>
        </p:nvSpPr>
        <p:spPr>
          <a:xfrm>
            <a:off x="548640" y="2606040"/>
            <a:ext cx="2103120" cy="384048"/>
          </a:xfrm>
          <a:prstGeom prst="roundRect">
            <a:avLst>
              <a:gd name="adj" fmla="val 50000"/>
            </a:avLst>
          </a:prstGeom>
          <a:ln w="15875">
            <a:solidFill>
              <a:schemeClr val="accent3"/>
            </a:solidFill>
          </a:ln>
        </p:spPr>
        <p:txBody>
          <a:bodyPr wrap="square" lIns="0" tIns="0" rIns="0" bIns="0" rtlCol="0" anchor="ctr"/>
          <a:lstStyle/>
          <a:p>
            <a:pPr marL="0" indent="0" algn="ctr">
              <a:buNone/>
            </a:pPr>
            <a:r>
              <a:rPr lang="en-US" sz="1300" b="1" kern="0" spc="300" dirty="0">
                <a:solidFill>
                  <a:schemeClr val="bg1"/>
                </a:solidFill>
              </a:rPr>
              <a:t>TEAM &amp; DOMAIN</a:t>
            </a:r>
            <a:endParaRPr lang="en-US" sz="1300" dirty="0"/>
          </a:p>
        </p:txBody>
      </p:sp>
      <p:sp>
        <p:nvSpPr>
          <p:cNvPr id="15" name="Cover Fields"/>
          <p:cNvSpPr txBox="1"/>
          <p:nvPr/>
        </p:nvSpPr>
        <p:spPr>
          <a:xfrm>
            <a:off x="548640" y="3551523"/>
            <a:ext cx="7836371" cy="2560320"/>
          </a:xfrm>
          <a:prstGeom prst="rect">
            <a:avLst/>
          </a:prstGeom>
          <a:noFill/>
          <a:ln/>
        </p:spPr>
        <p:txBody>
          <a:bodyPr wrap="square" lIns="0" tIns="0" rIns="0" bIns="0" rtlCol="0" anchor="t"/>
          <a:lstStyle/>
          <a:p>
            <a:pPr marL="279400" indent="-279400">
              <a:spcAft>
                <a:spcPts val="1400"/>
              </a:spcAft>
              <a:buClr>
                <a:schemeClr val="accent3"/>
              </a:buClr>
              <a:buSzPct val="100000"/>
              <a:buChar char="•"/>
            </a:pPr>
            <a:r>
              <a:rPr lang="en-US" sz="1800" dirty="0">
                <a:solidFill>
                  <a:schemeClr val="bg1"/>
                </a:solidFill>
              </a:rPr>
              <a:t>Team Name –</a:t>
            </a:r>
            <a:r>
              <a:rPr lang="en-US" sz="1600" dirty="0">
                <a:solidFill>
                  <a:schemeClr val="bg1"/>
                </a:solidFill>
              </a:rPr>
              <a:t>Big band bytes</a:t>
            </a:r>
            <a:endParaRPr lang="en-US" sz="1600" dirty="0"/>
          </a:p>
          <a:p>
            <a:pPr marL="279400" indent="-279400">
              <a:spcAft>
                <a:spcPts val="1400"/>
              </a:spcAft>
              <a:buClr>
                <a:schemeClr val="accent3"/>
              </a:buClr>
              <a:buSzPct val="100000"/>
              <a:buChar char="•"/>
            </a:pPr>
            <a:r>
              <a:rPr lang="en-US" sz="1800" dirty="0">
                <a:solidFill>
                  <a:schemeClr val="bg1"/>
                </a:solidFill>
              </a:rPr>
              <a:t>Team Members –</a:t>
            </a:r>
            <a:r>
              <a:rPr lang="en-US" dirty="0">
                <a:solidFill>
                  <a:schemeClr val="bg1"/>
                </a:solidFill>
              </a:rPr>
              <a:t>K B Aathika(CB.SC.U4CSE26419),</a:t>
            </a:r>
            <a:r>
              <a:rPr lang="en-US" dirty="0" err="1">
                <a:solidFill>
                  <a:schemeClr val="bg1"/>
                </a:solidFill>
              </a:rPr>
              <a:t>Gotluru</a:t>
            </a:r>
            <a:r>
              <a:rPr lang="en-US" dirty="0">
                <a:solidFill>
                  <a:schemeClr val="bg1"/>
                </a:solidFill>
              </a:rPr>
              <a:t> Harshitha (CB.SC.U4CSE26411),Movva Keerthi (CB.SC.U4CSE26430),Rithanyaa K(CB.SC.U4CSE26445)</a:t>
            </a:r>
            <a:endParaRPr lang="en-US" dirty="0"/>
          </a:p>
          <a:p>
            <a:pPr marL="279400" indent="-279400">
              <a:spcAft>
                <a:spcPts val="1400"/>
              </a:spcAft>
              <a:buClr>
                <a:schemeClr val="accent3"/>
              </a:buClr>
              <a:buSzPct val="100000"/>
              <a:buChar char="•"/>
            </a:pPr>
            <a:r>
              <a:rPr lang="en-US" sz="1800" dirty="0">
                <a:solidFill>
                  <a:schemeClr val="bg1"/>
                </a:solidFill>
              </a:rPr>
              <a:t>Selected Domain –#5 </a:t>
            </a:r>
            <a:endParaRPr lang="en-US" sz="1800" dirty="0"/>
          </a:p>
          <a:p>
            <a:pPr marL="279400" indent="-279400">
              <a:spcAft>
                <a:spcPts val="1400"/>
              </a:spcAft>
              <a:buClr>
                <a:schemeClr val="accent3"/>
              </a:buClr>
              <a:buSzPct val="100000"/>
              <a:buChar char="•"/>
            </a:pPr>
            <a:r>
              <a:rPr lang="en-US" sz="1800" dirty="0">
                <a:solidFill>
                  <a:schemeClr val="bg1"/>
                </a:solidFill>
              </a:rPr>
              <a:t>Problem Statement –</a:t>
            </a:r>
            <a:r>
              <a:rPr lang="en-US" dirty="0">
                <a:solidFill>
                  <a:schemeClr val="bg1"/>
                </a:solidFill>
              </a:rPr>
              <a:t>Smallholder farmers lose 15–30% of their income to predatory middlemen due to digital illiteracy and language barriers that prevent direct access to commercial buyers and also suffer severe post-harvest decay due to a lack of direct buyer access and affordable cold storage.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DOMAIN PROBLEM IN OUR WORDS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300" normalizeH="0" baseline="0" noProof="0" dirty="0">
                <a:ln>
                  <a:noFill/>
                </a:ln>
                <a:solidFill>
                  <a:srgbClr val="5B6F6B"/>
                </a:solidFill>
                <a:effectLst/>
                <a:uLnTx/>
                <a:uFillTx/>
                <a:latin typeface="Calibri"/>
                <a:ea typeface="+mn-ea"/>
                <a:cs typeface="+mn-cs"/>
              </a:rPr>
              <a:t>TEAM</a:t>
            </a:r>
            <a:endParaRPr kumimoji="0" lang="en-US" sz="900" b="0" i="0" u="none" strike="noStrike" kern="1200" cap="none" spc="0" normalizeH="0" baseline="0" noProof="0" dirty="0">
              <a:ln>
                <a:noFill/>
              </a:ln>
              <a:solidFill>
                <a:srgbClr val="0E2A2F"/>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026855"/>
                </a:solidFill>
                <a:effectLst/>
                <a:uLnTx/>
                <a:uFillTx/>
                <a:latin typeface="Calibri"/>
                <a:ea typeface="+mn-ea"/>
                <a:cs typeface="+mn-cs"/>
              </a:rPr>
              <a:t>Big band bytes</a:t>
            </a:r>
            <a:endParaRPr kumimoji="0" lang="en-US" sz="900" b="0" i="0" u="none" strike="noStrike" kern="1200" cap="none" spc="0" normalizeH="0" baseline="0" noProof="0" dirty="0">
              <a:ln>
                <a:noFill/>
              </a:ln>
              <a:solidFill>
                <a:srgbClr val="0E2A2F"/>
              </a:solidFill>
              <a:effectLst/>
              <a:uLnTx/>
              <a:uFillTx/>
              <a:latin typeface="Calibri"/>
              <a:ea typeface="+mn-ea"/>
              <a:cs typeface="+mn-cs"/>
            </a:endParaRPr>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94542"/>
                </a:solidFill>
                <a:effectLst/>
                <a:uLnTx/>
                <a:uFillTx/>
                <a:latin typeface="Calibri"/>
                <a:ea typeface="+mn-ea"/>
                <a:cs typeface="+mn-cs"/>
              </a:rPr>
              <a:t>Explain the problem in your domain simply, in your own words</a:t>
            </a:r>
            <a:endParaRPr kumimoji="0" lang="en-US" sz="1800" b="0" i="0" u="none" strike="noStrike" kern="1200" cap="none" spc="0" normalizeH="0" baseline="0" noProof="0" dirty="0">
              <a:ln>
                <a:noFill/>
              </a:ln>
              <a:solidFill>
                <a:srgbClr val="0E2A2F"/>
              </a:solidFill>
              <a:effectLst/>
              <a:uLnTx/>
              <a:uFillTx/>
              <a:latin typeface="Calibri"/>
              <a:ea typeface="+mn-ea"/>
              <a:cs typeface="+mn-cs"/>
            </a:endParaRPr>
          </a:p>
        </p:txBody>
      </p:sp>
      <p:sp>
        <p:nvSpPr>
          <p:cNvPr id="10" name="Prompts"/>
          <p:cNvSpPr txBox="1"/>
          <p:nvPr/>
        </p:nvSpPr>
        <p:spPr>
          <a:xfrm>
            <a:off x="868680" y="2148839"/>
            <a:ext cx="10424160" cy="4065529"/>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1000"/>
              </a:spcAft>
              <a:buClr>
                <a:srgbClr val="026855"/>
              </a:buClr>
              <a:buSzPct val="100000"/>
              <a:buFontTx/>
              <a:buNone/>
              <a:tabLst/>
              <a:defRPr/>
            </a:pPr>
            <a:r>
              <a:rPr kumimoji="0" lang="en-US" sz="1800" b="0" i="0" u="none" strike="noStrike" kern="1200" cap="none" spc="0" normalizeH="0" baseline="0" noProof="0" dirty="0">
                <a:ln>
                  <a:noFill/>
                </a:ln>
                <a:solidFill>
                  <a:srgbClr val="0E2A2F"/>
                </a:solidFill>
                <a:effectLst/>
                <a:uLnTx/>
                <a:uFillTx/>
                <a:latin typeface="Calibri"/>
                <a:ea typeface="+mn-ea"/>
                <a:cs typeface="+mn-cs"/>
              </a:rPr>
              <a:t>Middlemen taking profits: Farmers lose a lot of their money to brokers because they cannot use text-heavy apps.</a:t>
            </a:r>
          </a:p>
          <a:p>
            <a:pPr marL="0" marR="0" lvl="0" indent="0" algn="l" defTabSz="914400" rtl="0" eaLnBrk="1" fontAlgn="auto" latinLnBrk="0" hangingPunct="1">
              <a:lnSpc>
                <a:spcPct val="100000"/>
              </a:lnSpc>
              <a:spcBef>
                <a:spcPts val="0"/>
              </a:spcBef>
              <a:spcAft>
                <a:spcPts val="1000"/>
              </a:spcAft>
              <a:buClr>
                <a:srgbClr val="026855"/>
              </a:buClr>
              <a:buSzPct val="100000"/>
              <a:buFontTx/>
              <a:buNone/>
              <a:tabLst/>
              <a:defRPr/>
            </a:pPr>
            <a:r>
              <a:rPr kumimoji="0" lang="en-US" sz="1800" b="0" i="0" u="none" strike="noStrike" kern="1200" cap="none" spc="0" normalizeH="0" baseline="0" noProof="0" dirty="0">
                <a:ln>
                  <a:noFill/>
                </a:ln>
                <a:solidFill>
                  <a:srgbClr val="0E2A2F"/>
                </a:solidFill>
                <a:effectLst/>
                <a:uLnTx/>
                <a:uFillTx/>
                <a:latin typeface="Calibri"/>
                <a:ea typeface="+mn-ea"/>
                <a:cs typeface="+mn-cs"/>
              </a:rPr>
              <a:t>No cold storage access: Produce rots fast because farmers have no direct buyers and no cold storage to protect crops.</a:t>
            </a:r>
          </a:p>
          <a:p>
            <a:pPr marL="0" marR="0" lvl="0" indent="0" algn="l" defTabSz="914400" rtl="0" eaLnBrk="1" fontAlgn="auto" latinLnBrk="0" hangingPunct="1">
              <a:lnSpc>
                <a:spcPct val="100000"/>
              </a:lnSpc>
              <a:spcBef>
                <a:spcPts val="0"/>
              </a:spcBef>
              <a:spcAft>
                <a:spcPts val="1000"/>
              </a:spcAft>
              <a:buClr>
                <a:srgbClr val="026855"/>
              </a:buClr>
              <a:buSzPct val="100000"/>
              <a:buFontTx/>
              <a:buNone/>
              <a:tabLst/>
              <a:defRPr/>
            </a:pPr>
            <a:r>
              <a:rPr kumimoji="0" lang="en-US" sz="1800" b="0" i="0" u="none" strike="noStrike" kern="1200" cap="none" spc="0" normalizeH="0" baseline="0" noProof="0" dirty="0">
                <a:ln>
                  <a:noFill/>
                </a:ln>
                <a:solidFill>
                  <a:srgbClr val="0E2A2F"/>
                </a:solidFill>
                <a:effectLst/>
                <a:uLnTx/>
                <a:uFillTx/>
                <a:latin typeface="Calibri"/>
                <a:ea typeface="+mn-ea"/>
                <a:cs typeface="+mn-cs"/>
              </a:rPr>
              <a:t>Farmers losing money: High farming costs and low selling prices are creating huge financial stress for rural farmers. </a:t>
            </a:r>
          </a:p>
          <a:p>
            <a:pPr marL="0" marR="0" lvl="0" indent="0" algn="l" defTabSz="914400" rtl="0" eaLnBrk="1" fontAlgn="auto" latinLnBrk="0" hangingPunct="1">
              <a:lnSpc>
                <a:spcPct val="100000"/>
              </a:lnSpc>
              <a:spcBef>
                <a:spcPts val="0"/>
              </a:spcBef>
              <a:spcAft>
                <a:spcPts val="1000"/>
              </a:spcAft>
              <a:buClr>
                <a:srgbClr val="026855"/>
              </a:buClr>
              <a:buSzPct val="100000"/>
              <a:buFontTx/>
              <a:buNone/>
              <a:tabLst/>
              <a:defRPr/>
            </a:pPr>
            <a:r>
              <a:rPr kumimoji="0" lang="en-US" sz="1800" b="0" i="0" u="none" strike="noStrike" kern="1200" cap="none" spc="0" normalizeH="0" baseline="0" noProof="0" dirty="0">
                <a:ln>
                  <a:noFill/>
                </a:ln>
                <a:solidFill>
                  <a:srgbClr val="0E2A2F"/>
                </a:solidFill>
                <a:effectLst/>
                <a:uLnTx/>
                <a:uFillTx/>
                <a:latin typeface="Calibri"/>
                <a:ea typeface="+mn-ea"/>
                <a:cs typeface="+mn-cs"/>
              </a:rPr>
              <a:t>Simple voice tech: Voice AI allows uneducated farmers to trade directly and find cold storage just by speaking in their local language.</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100" b="1" i="0" u="none" strike="noStrike" kern="1200" cap="none" spc="0" normalizeH="0" baseline="0" noProof="0">
                <a:ln>
                  <a:noFill/>
                </a:ln>
                <a:solidFill>
                  <a:srgbClr val="052B35"/>
                </a:solidFill>
                <a:effectLst/>
                <a:uLnTx/>
                <a:uFillTx/>
                <a:latin typeface="Calibri"/>
                <a:ea typeface="Calibri"/>
                <a:cs typeface="Calibri"/>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en-US" sz="1100" b="0" i="0" u="none" strike="noStrike" kern="1200" cap="none" spc="0" normalizeH="0" baseline="0" noProof="0">
              <a:ln>
                <a:noFill/>
              </a:ln>
              <a:solidFill>
                <a:srgbClr val="052B35"/>
              </a:solidFill>
              <a:effectLst/>
              <a:uLnTx/>
              <a:uFillTx/>
              <a:latin typeface="Calibri"/>
              <a:ea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8"/>
        <p:cNvGrpSpPr/>
        <p:nvPr/>
      </p:nvGrpSpPr>
      <p:grpSpPr>
        <a:xfrm>
          <a:off x="0" y="0"/>
          <a:ext cx="0" cy="0"/>
          <a:chOff x="0" y="0"/>
          <a:chExt cx="0" cy="0"/>
        </a:xfrm>
      </p:grpSpPr>
      <p:sp>
        <p:nvSpPr>
          <p:cNvPr id="29" name="Google Shape;29;p5"/>
          <p:cNvSpPr txBox="1">
            <a:spLocks noGrp="1"/>
          </p:cNvSpPr>
          <p:nvPr>
            <p:ph type="title"/>
          </p:nvPr>
        </p:nvSpPr>
        <p:spPr>
          <a:xfrm>
            <a:off x="3246120" y="320040"/>
            <a:ext cx="7498080" cy="82296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2"/>
              </a:buClr>
              <a:buSzPts val="2400"/>
              <a:buFont typeface="Cambria"/>
              <a:buNone/>
            </a:pPr>
            <a:r>
              <a:rPr lang="en-US" sz="2400" b="1" spc="100">
                <a:solidFill>
                  <a:schemeClr val="dk2"/>
                </a:solidFill>
                <a:latin typeface="Cambria"/>
                <a:ea typeface="Cambria"/>
                <a:cs typeface="Cambria"/>
                <a:sym typeface="Cambria"/>
              </a:rPr>
              <a:t>WHO IS AFFECTED?</a:t>
            </a:r>
            <a:endParaRPr sz="2400"/>
          </a:p>
        </p:txBody>
      </p:sp>
      <p:sp>
        <p:nvSpPr>
          <p:cNvPr id="30" name="Google Shape;30;p5"/>
          <p:cNvSpPr/>
          <p:nvPr/>
        </p:nvSpPr>
        <p:spPr>
          <a:xfrm>
            <a:off x="457200" y="320040"/>
            <a:ext cx="2606040" cy="822960"/>
          </a:xfrm>
          <a:prstGeom prst="roundRect">
            <a:avLst>
              <a:gd name="adj" fmla="val 13333"/>
            </a:avLst>
          </a:prstGeom>
          <a:solidFill>
            <a:schemeClr val="lt1"/>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5"/>
          <p:cNvSpPr/>
          <p:nvPr/>
        </p:nvSpPr>
        <p:spPr>
          <a:xfrm>
            <a:off x="603504" y="457200"/>
            <a:ext cx="630936" cy="548640"/>
          </a:xfrm>
          <a:prstGeom prst="hexagon">
            <a:avLst>
              <a:gd name="adj" fmla="val 25000"/>
              <a:gd name="vf" fmla="val 115470"/>
            </a:avLst>
          </a:prstGeom>
          <a:solidFill>
            <a:schemeClr val="lt2"/>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2" name="Google Shape;32;p5" descr="Team icon"/>
          <p:cNvPicPr preferRelativeResize="0"/>
          <p:nvPr/>
        </p:nvPicPr>
        <p:blipFill rotWithShape="1">
          <a:blip r:embed="rId3">
            <a:alphaModFix/>
          </a:blip>
          <a:srcRect/>
          <a:stretch/>
        </p:blipFill>
        <p:spPr>
          <a:xfrm>
            <a:off x="736092" y="548640"/>
            <a:ext cx="365760" cy="365760"/>
          </a:xfrm>
          <a:prstGeom prst="rect">
            <a:avLst/>
          </a:prstGeom>
          <a:noFill/>
          <a:ln>
            <a:noFill/>
          </a:ln>
        </p:spPr>
      </p:pic>
      <p:sp>
        <p:nvSpPr>
          <p:cNvPr id="33" name="Google Shape;33;p5"/>
          <p:cNvSpPr txBox="1"/>
          <p:nvPr/>
        </p:nvSpPr>
        <p:spPr>
          <a:xfrm>
            <a:off x="1371600" y="384048"/>
            <a:ext cx="1627632" cy="694944"/>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chemeClr val="accent5"/>
              </a:buClr>
              <a:buSzPts val="900"/>
              <a:buFont typeface="Calibri"/>
              <a:buNone/>
            </a:pPr>
            <a:r>
              <a:rPr lang="en-US" sz="900" b="1" i="0" u="none" strike="noStrike" cap="none" spc="300">
                <a:solidFill>
                  <a:schemeClr val="accent5"/>
                </a:solidFill>
                <a:latin typeface="Calibri"/>
                <a:ea typeface="Calibri"/>
                <a:cs typeface="Calibri"/>
                <a:sym typeface="Calibri"/>
              </a:rPr>
              <a:t>TEAM</a:t>
            </a:r>
            <a:endParaRPr sz="900" b="0" i="0" u="none" strike="noStrike" cap="none">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r>
              <a:rPr lang="en-US" sz="1500" b="1">
                <a:solidFill>
                  <a:schemeClr val="accent1"/>
                </a:solidFill>
                <a:latin typeface="Calibri"/>
                <a:ea typeface="Calibri"/>
                <a:cs typeface="Calibri"/>
                <a:sym typeface="Calibri"/>
              </a:rPr>
              <a:t>Big band bytes</a:t>
            </a:r>
            <a:endParaRPr sz="1500" b="1">
              <a:solidFill>
                <a:schemeClr val="accent1"/>
              </a:solidFill>
              <a:latin typeface="Calibri"/>
              <a:ea typeface="Calibri"/>
              <a:cs typeface="Calibri"/>
              <a:sym typeface="Calibri"/>
            </a:endParaRPr>
          </a:p>
          <a:p>
            <a:pPr marL="0" marR="0" lvl="0" indent="0" algn="l" rtl="0">
              <a:spcBef>
                <a:spcPts val="0"/>
              </a:spcBef>
              <a:spcAft>
                <a:spcPts val="0"/>
              </a:spcAft>
              <a:buClr>
                <a:schemeClr val="accent1"/>
              </a:buClr>
              <a:buSzPts val="1500"/>
              <a:buFont typeface="Calibri"/>
              <a:buNone/>
            </a:pPr>
            <a:endParaRPr sz="1500" b="1">
              <a:solidFill>
                <a:schemeClr val="accent1"/>
              </a:solidFill>
              <a:latin typeface="Calibri"/>
              <a:ea typeface="Calibri"/>
              <a:cs typeface="Calibri"/>
              <a:sym typeface="Calibri"/>
            </a:endParaRPr>
          </a:p>
        </p:txBody>
      </p:sp>
      <p:sp>
        <p:nvSpPr>
          <p:cNvPr id="34" name="Google Shape;34;p5"/>
          <p:cNvSpPr/>
          <p:nvPr/>
        </p:nvSpPr>
        <p:spPr>
          <a:xfrm>
            <a:off x="548640" y="1463040"/>
            <a:ext cx="457200" cy="395935"/>
          </a:xfrm>
          <a:prstGeom prst="hexagon">
            <a:avLst>
              <a:gd name="adj" fmla="val 25000"/>
              <a:gd name="vf" fmla="val 11547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5" name="Google Shape;35;p5" descr="Lightbulb icon"/>
          <p:cNvPicPr preferRelativeResize="0"/>
          <p:nvPr/>
        </p:nvPicPr>
        <p:blipFill rotWithShape="1">
          <a:blip r:embed="rId4">
            <a:alphaModFix/>
          </a:blip>
          <a:srcRect/>
          <a:stretch/>
        </p:blipFill>
        <p:spPr>
          <a:xfrm>
            <a:off x="640080" y="1523390"/>
            <a:ext cx="274320" cy="274320"/>
          </a:xfrm>
          <a:prstGeom prst="rect">
            <a:avLst/>
          </a:prstGeom>
          <a:noFill/>
          <a:ln>
            <a:noFill/>
          </a:ln>
        </p:spPr>
      </p:pic>
      <p:sp>
        <p:nvSpPr>
          <p:cNvPr id="36" name="Google Shape;36;p5"/>
          <p:cNvSpPr txBox="1"/>
          <p:nvPr/>
        </p:nvSpPr>
        <p:spPr>
          <a:xfrm>
            <a:off x="1170432" y="1417320"/>
            <a:ext cx="960120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2"/>
              </a:buClr>
              <a:buSzPts val="1800"/>
              <a:buFont typeface="Calibri"/>
              <a:buNone/>
            </a:pPr>
            <a:r>
              <a:rPr lang="en-US" sz="1800" b="1" i="0" u="none" strike="noStrike" cap="none">
                <a:solidFill>
                  <a:schemeClr val="accent2"/>
                </a:solidFill>
                <a:latin typeface="Calibri"/>
                <a:ea typeface="Calibri"/>
                <a:cs typeface="Calibri"/>
                <a:sym typeface="Calibri"/>
              </a:rPr>
              <a:t>Target users, stakeholders, beneficiaries</a:t>
            </a:r>
            <a:endParaRPr sz="1800" b="0" i="0" u="none" strike="noStrike" cap="none">
              <a:solidFill>
                <a:schemeClr val="dk1"/>
              </a:solidFill>
              <a:latin typeface="Calibri"/>
              <a:ea typeface="Calibri"/>
              <a:cs typeface="Calibri"/>
              <a:sym typeface="Calibri"/>
            </a:endParaRPr>
          </a:p>
        </p:txBody>
      </p:sp>
      <p:sp>
        <p:nvSpPr>
          <p:cNvPr id="37" name="Google Shape;37;p5"/>
          <p:cNvSpPr txBox="1"/>
          <p:nvPr/>
        </p:nvSpPr>
        <p:spPr>
          <a:xfrm>
            <a:off x="868675" y="2148846"/>
            <a:ext cx="10847400" cy="2830200"/>
          </a:xfrm>
          <a:prstGeom prst="rect">
            <a:avLst/>
          </a:prstGeom>
          <a:noFill/>
          <a:ln>
            <a:noFill/>
          </a:ln>
        </p:spPr>
        <p:txBody>
          <a:bodyPr spcFirstLastPara="1" wrap="square" lIns="0" tIns="0" rIns="0" bIns="0" anchor="t" anchorCtr="0">
            <a:noAutofit/>
          </a:bodyPr>
          <a:lstStyle/>
          <a:p>
            <a:pPr marL="457200" lvl="0" indent="-346075" algn="l" rtl="0">
              <a:spcBef>
                <a:spcPts val="0"/>
              </a:spcBef>
              <a:spcAft>
                <a:spcPts val="0"/>
              </a:spcAft>
              <a:buClr>
                <a:schemeClr val="dk1"/>
              </a:buClr>
              <a:buSzPts val="1850"/>
              <a:buChar char="•"/>
            </a:pPr>
            <a:r>
              <a:rPr lang="en-US" sz="2050" dirty="0">
                <a:solidFill>
                  <a:schemeClr val="dk1"/>
                </a:solidFill>
                <a:highlight>
                  <a:schemeClr val="lt2"/>
                </a:highlight>
              </a:rPr>
              <a:t>Smallholder </a:t>
            </a:r>
            <a:r>
              <a:rPr lang="en-US" sz="2050" dirty="0" err="1">
                <a:solidFill>
                  <a:schemeClr val="dk1"/>
                </a:solidFill>
                <a:highlight>
                  <a:schemeClr val="lt2"/>
                </a:highlight>
              </a:rPr>
              <a:t>Farmers:Rural</a:t>
            </a:r>
            <a:r>
              <a:rPr lang="en-US" sz="2050" dirty="0">
                <a:solidFill>
                  <a:schemeClr val="dk1"/>
                </a:solidFill>
                <a:highlight>
                  <a:schemeClr val="lt2"/>
                </a:highlight>
              </a:rPr>
              <a:t> small-scale farmers with a plot of less than 2 hectares that lack access to nearby markets, speak/understand only local languages and dialects and are generally not very tech-savvy. </a:t>
            </a:r>
            <a:endParaRPr sz="2050" dirty="0">
              <a:solidFill>
                <a:schemeClr val="dk1"/>
              </a:solidFill>
              <a:highlight>
                <a:schemeClr val="lt2"/>
              </a:highlight>
            </a:endParaRPr>
          </a:p>
          <a:p>
            <a:pPr marL="0" lvl="0" indent="0" algn="l" rtl="0">
              <a:spcBef>
                <a:spcPts val="0"/>
              </a:spcBef>
              <a:spcAft>
                <a:spcPts val="0"/>
              </a:spcAft>
              <a:buNone/>
            </a:pPr>
            <a:endParaRPr sz="2050" dirty="0">
              <a:solidFill>
                <a:schemeClr val="dk1"/>
              </a:solidFill>
              <a:highlight>
                <a:schemeClr val="lt2"/>
              </a:highlight>
            </a:endParaRPr>
          </a:p>
          <a:p>
            <a:pPr marL="457200" lvl="0" indent="-346075" algn="l" rtl="0">
              <a:spcBef>
                <a:spcPts val="0"/>
              </a:spcBef>
              <a:spcAft>
                <a:spcPts val="0"/>
              </a:spcAft>
              <a:buClr>
                <a:schemeClr val="dk1"/>
              </a:buClr>
              <a:buSzPts val="1850"/>
              <a:buChar char="•"/>
            </a:pPr>
            <a:r>
              <a:rPr lang="en-US" sz="2050" dirty="0">
                <a:solidFill>
                  <a:schemeClr val="dk1"/>
                </a:solidFill>
                <a:highlight>
                  <a:schemeClr val="lt2"/>
                </a:highlight>
              </a:rPr>
              <a:t>Individuals/Entities that are not directly involved but can be affected, support or are supported by the product/service/platform. </a:t>
            </a:r>
            <a:endParaRPr sz="2050" dirty="0">
              <a:solidFill>
                <a:schemeClr val="dk1"/>
              </a:solidFill>
              <a:highlight>
                <a:schemeClr val="lt2"/>
              </a:highlight>
            </a:endParaRPr>
          </a:p>
          <a:p>
            <a:pPr marL="457200" lvl="0" indent="0" algn="l" rtl="0">
              <a:spcBef>
                <a:spcPts val="0"/>
              </a:spcBef>
              <a:spcAft>
                <a:spcPts val="0"/>
              </a:spcAft>
              <a:buNone/>
            </a:pPr>
            <a:endParaRPr sz="2050" dirty="0">
              <a:solidFill>
                <a:schemeClr val="dk1"/>
              </a:solidFill>
              <a:highlight>
                <a:schemeClr val="lt2"/>
              </a:highlight>
            </a:endParaRPr>
          </a:p>
          <a:p>
            <a:pPr marL="457200" lvl="0" indent="-346075" algn="l" rtl="0">
              <a:spcBef>
                <a:spcPts val="0"/>
              </a:spcBef>
              <a:spcAft>
                <a:spcPts val="0"/>
              </a:spcAft>
              <a:buClr>
                <a:schemeClr val="dk1"/>
              </a:buClr>
              <a:buSzPts val="1850"/>
              <a:buChar char="•"/>
            </a:pPr>
            <a:r>
              <a:rPr lang="en-US" sz="2050" dirty="0">
                <a:solidFill>
                  <a:schemeClr val="dk1"/>
                </a:solidFill>
                <a:highlight>
                  <a:schemeClr val="lt2"/>
                </a:highlight>
              </a:rPr>
              <a:t>This will benefit the entire country – farmers, consumers, businesses, and the environment.</a:t>
            </a:r>
            <a:endParaRPr sz="2050" dirty="0">
              <a:solidFill>
                <a:schemeClr val="dk1"/>
              </a:solidFill>
              <a:highlight>
                <a:schemeClr val="lt2"/>
              </a:highlight>
            </a:endParaRPr>
          </a:p>
          <a:p>
            <a:pPr marL="457200" marR="0" lvl="0" indent="0" algn="l" rtl="0">
              <a:spcBef>
                <a:spcPts val="0"/>
              </a:spcBef>
              <a:spcAft>
                <a:spcPts val="0"/>
              </a:spcAft>
              <a:buNone/>
            </a:pPr>
            <a:endParaRPr sz="2050" dirty="0">
              <a:solidFill>
                <a:schemeClr val="dk1"/>
              </a:solidFill>
              <a:highlight>
                <a:schemeClr val="lt2"/>
              </a:highlight>
            </a:endParaRPr>
          </a:p>
        </p:txBody>
      </p:sp>
      <p:sp>
        <p:nvSpPr>
          <p:cNvPr id="38" name="Google Shape;38;p5"/>
          <p:cNvSpPr txBox="1">
            <a:spLocks noGrp="1"/>
          </p:cNvSpPr>
          <p:nvPr>
            <p:ph type="sldNum" idx="4294967295"/>
          </p:nvPr>
        </p:nvSpPr>
        <p:spPr>
          <a:xfrm>
            <a:off x="11259007" y="6409944"/>
            <a:ext cx="457200" cy="395935"/>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fld id="{00000000-1234-1234-1234-123412341234}" type="slidenum">
              <a:rPr lang="en-US" sz="1100" b="1" i="0" u="none" strike="noStrike" cap="none">
                <a:solidFill>
                  <a:schemeClr val="dk2"/>
                </a:solidFill>
                <a:latin typeface="Calibri"/>
                <a:ea typeface="Calibri"/>
                <a:cs typeface="Calibri"/>
                <a:sym typeface="Calibri"/>
              </a:rPr>
              <a:t>3</a:t>
            </a:fld>
            <a:endParaRPr sz="1100" b="0" i="0" u="none" strike="noStrike" cap="none">
              <a:solidFill>
                <a:schemeClr val="dk2"/>
              </a:solidFill>
              <a:latin typeface="Calibri"/>
              <a:ea typeface="Calibri"/>
              <a:cs typeface="Calibri"/>
              <a:sym typeface="Calibri"/>
            </a:endParaRPr>
          </a:p>
        </p:txBody>
      </p:sp>
      <p:sp>
        <p:nvSpPr>
          <p:cNvPr id="39" name="Google Shape;39;p5"/>
          <p:cNvSpPr txBox="1"/>
          <p:nvPr/>
        </p:nvSpPr>
        <p:spPr>
          <a:xfrm>
            <a:off x="5867625" y="2659075"/>
            <a:ext cx="6342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6"/>
          <p:cNvSpPr txBox="1">
            <a:spLocks noGrp="1"/>
          </p:cNvSpPr>
          <p:nvPr>
            <p:ph type="title"/>
          </p:nvPr>
        </p:nvSpPr>
        <p:spPr>
          <a:xfrm>
            <a:off x="3246120" y="320040"/>
            <a:ext cx="7498080" cy="82296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2"/>
              </a:buClr>
              <a:buSzPts val="2400"/>
              <a:buFont typeface="Cambria"/>
              <a:buNone/>
            </a:pPr>
            <a:r>
              <a:rPr lang="en-US" sz="2400" b="1" spc="100">
                <a:solidFill>
                  <a:schemeClr val="dk2"/>
                </a:solidFill>
                <a:latin typeface="Cambria"/>
                <a:ea typeface="Cambria"/>
                <a:cs typeface="Cambria"/>
                <a:sym typeface="Cambria"/>
              </a:rPr>
              <a:t>CURRENT SITUATION &amp; CONTEXT</a:t>
            </a:r>
            <a:endParaRPr sz="2400"/>
          </a:p>
        </p:txBody>
      </p:sp>
      <p:sp>
        <p:nvSpPr>
          <p:cNvPr id="46" name="Google Shape;46;p6"/>
          <p:cNvSpPr/>
          <p:nvPr/>
        </p:nvSpPr>
        <p:spPr>
          <a:xfrm>
            <a:off x="457200" y="320040"/>
            <a:ext cx="2606040" cy="822960"/>
          </a:xfrm>
          <a:prstGeom prst="roundRect">
            <a:avLst>
              <a:gd name="adj" fmla="val 13333"/>
            </a:avLst>
          </a:prstGeom>
          <a:solidFill>
            <a:schemeClr val="lt1"/>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6"/>
          <p:cNvSpPr/>
          <p:nvPr/>
        </p:nvSpPr>
        <p:spPr>
          <a:xfrm>
            <a:off x="603504" y="457200"/>
            <a:ext cx="630936" cy="548640"/>
          </a:xfrm>
          <a:prstGeom prst="hexagon">
            <a:avLst>
              <a:gd name="adj" fmla="val 25000"/>
              <a:gd name="vf" fmla="val 115470"/>
            </a:avLst>
          </a:prstGeom>
          <a:solidFill>
            <a:schemeClr val="lt2"/>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8" name="Google Shape;48;p6" descr="Team icon"/>
          <p:cNvPicPr preferRelativeResize="0"/>
          <p:nvPr/>
        </p:nvPicPr>
        <p:blipFill rotWithShape="1">
          <a:blip r:embed="rId3">
            <a:alphaModFix/>
          </a:blip>
          <a:srcRect/>
          <a:stretch/>
        </p:blipFill>
        <p:spPr>
          <a:xfrm>
            <a:off x="736092" y="548640"/>
            <a:ext cx="365760" cy="365760"/>
          </a:xfrm>
          <a:prstGeom prst="rect">
            <a:avLst/>
          </a:prstGeom>
          <a:noFill/>
          <a:ln>
            <a:noFill/>
          </a:ln>
        </p:spPr>
      </p:pic>
      <p:sp>
        <p:nvSpPr>
          <p:cNvPr id="49" name="Google Shape;49;p6"/>
          <p:cNvSpPr txBox="1"/>
          <p:nvPr/>
        </p:nvSpPr>
        <p:spPr>
          <a:xfrm>
            <a:off x="1371600" y="418066"/>
            <a:ext cx="1627500" cy="694800"/>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chemeClr val="accent5"/>
              </a:buClr>
              <a:buSzPts val="900"/>
              <a:buFont typeface="Calibri"/>
              <a:buNone/>
            </a:pPr>
            <a:r>
              <a:rPr lang="en-US" sz="900" b="1" i="0" u="none" strike="noStrike" cap="none" spc="300">
                <a:solidFill>
                  <a:schemeClr val="accent5"/>
                </a:solidFill>
                <a:latin typeface="Calibri"/>
                <a:ea typeface="Calibri"/>
                <a:cs typeface="Calibri"/>
                <a:sym typeface="Calibri"/>
              </a:rPr>
              <a:t>TEAM</a:t>
            </a:r>
            <a:endParaRPr sz="900" b="0" i="0" u="none" strike="noStrike" cap="none">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r>
              <a:rPr lang="en-US" sz="1500" b="1">
                <a:solidFill>
                  <a:schemeClr val="accent1"/>
                </a:solidFill>
                <a:latin typeface="Calibri"/>
                <a:ea typeface="Calibri"/>
                <a:cs typeface="Calibri"/>
                <a:sym typeface="Calibri"/>
              </a:rPr>
              <a:t>Big band bytes</a:t>
            </a:r>
            <a:endParaRPr sz="1500" b="1">
              <a:solidFill>
                <a:schemeClr val="accent1"/>
              </a:solidFill>
              <a:latin typeface="Calibri"/>
              <a:ea typeface="Calibri"/>
              <a:cs typeface="Calibri"/>
              <a:sym typeface="Calibri"/>
            </a:endParaRPr>
          </a:p>
          <a:p>
            <a:pPr marL="0" marR="0" lvl="0" indent="0" algn="l" rtl="0">
              <a:spcBef>
                <a:spcPts val="0"/>
              </a:spcBef>
              <a:spcAft>
                <a:spcPts val="0"/>
              </a:spcAft>
              <a:buClr>
                <a:schemeClr val="accent1"/>
              </a:buClr>
              <a:buSzPts val="1500"/>
              <a:buFont typeface="Calibri"/>
              <a:buNone/>
            </a:pPr>
            <a:endParaRPr sz="1500" b="1">
              <a:solidFill>
                <a:schemeClr val="accent1"/>
              </a:solidFill>
              <a:latin typeface="Calibri"/>
              <a:ea typeface="Calibri"/>
              <a:cs typeface="Calibri"/>
              <a:sym typeface="Calibri"/>
            </a:endParaRPr>
          </a:p>
        </p:txBody>
      </p:sp>
      <p:sp>
        <p:nvSpPr>
          <p:cNvPr id="50" name="Google Shape;50;p6"/>
          <p:cNvSpPr/>
          <p:nvPr/>
        </p:nvSpPr>
        <p:spPr>
          <a:xfrm>
            <a:off x="548640" y="1463040"/>
            <a:ext cx="457200" cy="395935"/>
          </a:xfrm>
          <a:prstGeom prst="hexagon">
            <a:avLst>
              <a:gd name="adj" fmla="val 25000"/>
              <a:gd name="vf" fmla="val 11547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1" name="Google Shape;51;p6" descr="Lightbulb icon"/>
          <p:cNvPicPr preferRelativeResize="0"/>
          <p:nvPr/>
        </p:nvPicPr>
        <p:blipFill rotWithShape="1">
          <a:blip r:embed="rId4">
            <a:alphaModFix/>
          </a:blip>
          <a:srcRect/>
          <a:stretch/>
        </p:blipFill>
        <p:spPr>
          <a:xfrm>
            <a:off x="640080" y="1523390"/>
            <a:ext cx="274320" cy="274320"/>
          </a:xfrm>
          <a:prstGeom prst="rect">
            <a:avLst/>
          </a:prstGeom>
          <a:noFill/>
          <a:ln>
            <a:noFill/>
          </a:ln>
        </p:spPr>
      </p:pic>
      <p:sp>
        <p:nvSpPr>
          <p:cNvPr id="52" name="Google Shape;52;p6"/>
          <p:cNvSpPr txBox="1"/>
          <p:nvPr/>
        </p:nvSpPr>
        <p:spPr>
          <a:xfrm>
            <a:off x="1170432" y="1417320"/>
            <a:ext cx="960120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2"/>
              </a:buClr>
              <a:buSzPts val="1800"/>
              <a:buFont typeface="Calibri"/>
              <a:buNone/>
            </a:pPr>
            <a:r>
              <a:rPr lang="en-US" sz="1800" b="1" i="0" u="none" strike="noStrike" cap="none">
                <a:solidFill>
                  <a:schemeClr val="accent2"/>
                </a:solidFill>
                <a:latin typeface="Calibri"/>
                <a:ea typeface="Calibri"/>
                <a:cs typeface="Calibri"/>
                <a:sym typeface="Calibri"/>
              </a:rPr>
              <a:t>Existing scenario, background and how things work today</a:t>
            </a:r>
            <a:endParaRPr sz="1800" b="0" i="0" u="none" strike="noStrike" cap="none">
              <a:solidFill>
                <a:schemeClr val="dk1"/>
              </a:solidFill>
              <a:latin typeface="Calibri"/>
              <a:ea typeface="Calibri"/>
              <a:cs typeface="Calibri"/>
              <a:sym typeface="Calibri"/>
            </a:endParaRPr>
          </a:p>
        </p:txBody>
      </p:sp>
      <p:sp>
        <p:nvSpPr>
          <p:cNvPr id="53" name="Google Shape;53;p6"/>
          <p:cNvSpPr txBox="1"/>
          <p:nvPr/>
        </p:nvSpPr>
        <p:spPr>
          <a:xfrm>
            <a:off x="868675" y="2148855"/>
            <a:ext cx="10424100" cy="2524800"/>
          </a:xfrm>
          <a:prstGeom prst="rect">
            <a:avLst/>
          </a:prstGeom>
          <a:noFill/>
          <a:ln>
            <a:noFill/>
          </a:ln>
        </p:spPr>
        <p:txBody>
          <a:bodyPr spcFirstLastPara="1" wrap="square" lIns="0" tIns="0" rIns="0" bIns="0" anchor="t" anchorCtr="0">
            <a:noAutofit/>
          </a:bodyPr>
          <a:lstStyle/>
          <a:p>
            <a:pPr marL="279400" marR="0" lvl="0" indent="-298450" algn="l" rtl="0">
              <a:spcBef>
                <a:spcPts val="0"/>
              </a:spcBef>
              <a:spcAft>
                <a:spcPts val="0"/>
              </a:spcAft>
              <a:buClr>
                <a:schemeClr val="accent1"/>
              </a:buClr>
              <a:buSzPts val="2100"/>
              <a:buFont typeface="Calibri"/>
              <a:buChar char="•"/>
            </a:pPr>
            <a:r>
              <a:rPr lang="en-US" sz="2100" dirty="0">
                <a:solidFill>
                  <a:schemeClr val="dk1"/>
                </a:solidFill>
                <a:latin typeface="Calibri"/>
                <a:ea typeface="Calibri"/>
                <a:cs typeface="Calibri"/>
                <a:sym typeface="Calibri"/>
              </a:rPr>
              <a:t>Most smallholder farmers pick their crops at the same time, for instance, tomatoes, onions, and leafy vegetables. This causes an oversupply of farm produce in the local market. </a:t>
            </a:r>
            <a:endParaRPr sz="2100" b="0" i="0" u="none" strike="noStrike" cap="none" dirty="0">
              <a:solidFill>
                <a:schemeClr val="dk1"/>
              </a:solidFill>
              <a:latin typeface="Calibri"/>
              <a:ea typeface="Calibri"/>
              <a:cs typeface="Calibri"/>
              <a:sym typeface="Calibri"/>
            </a:endParaRPr>
          </a:p>
          <a:p>
            <a:pPr marL="279400" marR="0" lvl="0" indent="-298450" algn="l" rtl="0">
              <a:spcBef>
                <a:spcPts val="1000"/>
              </a:spcBef>
              <a:spcAft>
                <a:spcPts val="0"/>
              </a:spcAft>
              <a:buClr>
                <a:schemeClr val="accent1"/>
              </a:buClr>
              <a:buSzPts val="2100"/>
              <a:buFont typeface="Calibri"/>
              <a:buChar char="•"/>
            </a:pPr>
            <a:r>
              <a:rPr lang="en-US" sz="2100" dirty="0">
                <a:solidFill>
                  <a:schemeClr val="dk1"/>
                </a:solidFill>
                <a:latin typeface="Calibri"/>
                <a:ea typeface="Calibri"/>
                <a:cs typeface="Calibri"/>
                <a:sym typeface="Calibri"/>
              </a:rPr>
              <a:t>Research shows that up to 68% of smallholder farmers in rural areas cannot use text-based digital applications to facilitate their sales. </a:t>
            </a:r>
            <a:endParaRPr sz="2100" b="0" i="0" u="none" strike="noStrike" cap="none" dirty="0">
              <a:solidFill>
                <a:schemeClr val="dk1"/>
              </a:solidFill>
              <a:latin typeface="Calibri"/>
              <a:ea typeface="Calibri"/>
              <a:cs typeface="Calibri"/>
              <a:sym typeface="Calibri"/>
            </a:endParaRPr>
          </a:p>
          <a:p>
            <a:pPr marL="279400" marR="0" lvl="0" indent="-298450" algn="l" rtl="0">
              <a:spcBef>
                <a:spcPts val="1000"/>
              </a:spcBef>
              <a:spcAft>
                <a:spcPts val="0"/>
              </a:spcAft>
              <a:buClr>
                <a:schemeClr val="accent1"/>
              </a:buClr>
              <a:buSzPts val="2100"/>
              <a:buFont typeface="Calibri"/>
              <a:buChar char="•"/>
            </a:pPr>
            <a:r>
              <a:rPr lang="en-US" sz="2100" dirty="0">
                <a:solidFill>
                  <a:schemeClr val="dk1"/>
                </a:solidFill>
                <a:latin typeface="Calibri"/>
                <a:ea typeface="Calibri"/>
                <a:cs typeface="Calibri"/>
                <a:sym typeface="Calibri"/>
              </a:rPr>
              <a:t>Harvesting ➔ grading ➔ middleman ➔ logistics ➔ mandi/auction </a:t>
            </a:r>
            <a:endParaRPr sz="2100" b="0" i="0" u="none" strike="noStrike" cap="none" dirty="0">
              <a:solidFill>
                <a:schemeClr val="dk1"/>
              </a:solidFill>
              <a:latin typeface="Calibri"/>
              <a:ea typeface="Calibri"/>
              <a:cs typeface="Calibri"/>
              <a:sym typeface="Calibri"/>
            </a:endParaRPr>
          </a:p>
        </p:txBody>
      </p:sp>
      <p:sp>
        <p:nvSpPr>
          <p:cNvPr id="54" name="Google Shape;54;p6"/>
          <p:cNvSpPr txBox="1">
            <a:spLocks noGrp="1"/>
          </p:cNvSpPr>
          <p:nvPr>
            <p:ph type="sldNum" idx="4294967295"/>
          </p:nvPr>
        </p:nvSpPr>
        <p:spPr>
          <a:xfrm>
            <a:off x="11259007" y="6409944"/>
            <a:ext cx="457200" cy="395935"/>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fld id="{00000000-1234-1234-1234-123412341234}" type="slidenum">
              <a:rPr lang="en-US" sz="1100" b="1" i="0" u="none" strike="noStrike" cap="none">
                <a:solidFill>
                  <a:schemeClr val="dk2"/>
                </a:solidFill>
                <a:latin typeface="Calibri"/>
                <a:ea typeface="Calibri"/>
                <a:cs typeface="Calibri"/>
                <a:sym typeface="Calibri"/>
              </a:rPr>
              <a:t>4</a:t>
            </a:fld>
            <a:endParaRPr sz="1100" b="0" i="0" u="none" strike="noStrike" cap="none">
              <a:solidFill>
                <a:schemeClr val="dk2"/>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7"/>
          <p:cNvSpPr txBox="1">
            <a:spLocks noGrp="1"/>
          </p:cNvSpPr>
          <p:nvPr>
            <p:ph type="title"/>
          </p:nvPr>
        </p:nvSpPr>
        <p:spPr>
          <a:xfrm>
            <a:off x="3246120" y="320040"/>
            <a:ext cx="7498200" cy="822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2"/>
              </a:buClr>
              <a:buSzPts val="2400"/>
              <a:buFont typeface="Cambria"/>
              <a:buNone/>
            </a:pPr>
            <a:r>
              <a:rPr lang="en-US" sz="2400" b="1" spc="100">
                <a:solidFill>
                  <a:schemeClr val="dk2"/>
                </a:solidFill>
                <a:latin typeface="Cambria"/>
                <a:ea typeface="Cambria"/>
                <a:cs typeface="Cambria"/>
                <a:sym typeface="Cambria"/>
              </a:rPr>
              <a:t>KEY CHALLENGES</a:t>
            </a:r>
            <a:endParaRPr sz="2400"/>
          </a:p>
        </p:txBody>
      </p:sp>
      <p:sp>
        <p:nvSpPr>
          <p:cNvPr id="61" name="Google Shape;61;p7"/>
          <p:cNvSpPr/>
          <p:nvPr/>
        </p:nvSpPr>
        <p:spPr>
          <a:xfrm>
            <a:off x="457200" y="320040"/>
            <a:ext cx="2606100" cy="822900"/>
          </a:xfrm>
          <a:prstGeom prst="roundRect">
            <a:avLst>
              <a:gd name="adj" fmla="val 13333"/>
            </a:avLst>
          </a:prstGeom>
          <a:solidFill>
            <a:schemeClr val="lt1"/>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7"/>
          <p:cNvSpPr/>
          <p:nvPr/>
        </p:nvSpPr>
        <p:spPr>
          <a:xfrm>
            <a:off x="603504" y="457200"/>
            <a:ext cx="630900" cy="548700"/>
          </a:xfrm>
          <a:prstGeom prst="hexagon">
            <a:avLst>
              <a:gd name="adj" fmla="val 25000"/>
              <a:gd name="vf" fmla="val 115470"/>
            </a:avLst>
          </a:prstGeom>
          <a:solidFill>
            <a:schemeClr val="lt2"/>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3" name="Google Shape;63;p7" descr="Team icon"/>
          <p:cNvPicPr preferRelativeResize="0"/>
          <p:nvPr/>
        </p:nvPicPr>
        <p:blipFill rotWithShape="1">
          <a:blip r:embed="rId3">
            <a:alphaModFix/>
          </a:blip>
          <a:srcRect/>
          <a:stretch/>
        </p:blipFill>
        <p:spPr>
          <a:xfrm>
            <a:off x="736092" y="548640"/>
            <a:ext cx="365760" cy="365760"/>
          </a:xfrm>
          <a:prstGeom prst="rect">
            <a:avLst/>
          </a:prstGeom>
          <a:noFill/>
          <a:ln>
            <a:noFill/>
          </a:ln>
        </p:spPr>
      </p:pic>
      <p:sp>
        <p:nvSpPr>
          <p:cNvPr id="64" name="Google Shape;64;p7"/>
          <p:cNvSpPr txBox="1"/>
          <p:nvPr/>
        </p:nvSpPr>
        <p:spPr>
          <a:xfrm>
            <a:off x="1371600" y="384048"/>
            <a:ext cx="1627500" cy="694800"/>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chemeClr val="accent5"/>
              </a:buClr>
              <a:buSzPts val="900"/>
              <a:buFont typeface="Calibri"/>
              <a:buNone/>
            </a:pPr>
            <a:r>
              <a:rPr lang="en-US" sz="900" b="1" i="0" u="none" strike="noStrike" cap="none" spc="300">
                <a:solidFill>
                  <a:schemeClr val="accent5"/>
                </a:solidFill>
                <a:latin typeface="Calibri"/>
                <a:ea typeface="Calibri"/>
                <a:cs typeface="Calibri"/>
                <a:sym typeface="Calibri"/>
              </a:rPr>
              <a:t>TEAM</a:t>
            </a:r>
            <a:endParaRPr sz="9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accent1"/>
              </a:buClr>
              <a:buSzPts val="1500"/>
              <a:buFont typeface="Calibri"/>
              <a:buNone/>
            </a:pPr>
            <a:r>
              <a:rPr lang="en-US" sz="1500" b="1">
                <a:solidFill>
                  <a:schemeClr val="accent1"/>
                </a:solidFill>
                <a:latin typeface="Calibri"/>
                <a:ea typeface="Calibri"/>
                <a:cs typeface="Calibri"/>
                <a:sym typeface="Calibri"/>
              </a:rPr>
              <a:t>Big Band bytes</a:t>
            </a:r>
            <a:endParaRPr sz="900" b="0" i="0" u="none" strike="noStrike" cap="none">
              <a:solidFill>
                <a:schemeClr val="dk1"/>
              </a:solidFill>
              <a:latin typeface="Calibri"/>
              <a:ea typeface="Calibri"/>
              <a:cs typeface="Calibri"/>
              <a:sym typeface="Calibri"/>
            </a:endParaRPr>
          </a:p>
        </p:txBody>
      </p:sp>
      <p:sp>
        <p:nvSpPr>
          <p:cNvPr id="65" name="Google Shape;65;p7"/>
          <p:cNvSpPr/>
          <p:nvPr/>
        </p:nvSpPr>
        <p:spPr>
          <a:xfrm>
            <a:off x="548640" y="1463040"/>
            <a:ext cx="457200" cy="396000"/>
          </a:xfrm>
          <a:prstGeom prst="hexagon">
            <a:avLst>
              <a:gd name="adj" fmla="val 25000"/>
              <a:gd name="vf" fmla="val 11547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6" name="Google Shape;66;p7" descr="Lightbulb icon"/>
          <p:cNvPicPr preferRelativeResize="0"/>
          <p:nvPr/>
        </p:nvPicPr>
        <p:blipFill rotWithShape="1">
          <a:blip r:embed="rId4">
            <a:alphaModFix/>
          </a:blip>
          <a:srcRect/>
          <a:stretch/>
        </p:blipFill>
        <p:spPr>
          <a:xfrm>
            <a:off x="640080" y="1523390"/>
            <a:ext cx="274320" cy="274320"/>
          </a:xfrm>
          <a:prstGeom prst="rect">
            <a:avLst/>
          </a:prstGeom>
          <a:noFill/>
          <a:ln>
            <a:noFill/>
          </a:ln>
        </p:spPr>
      </p:pic>
      <p:sp>
        <p:nvSpPr>
          <p:cNvPr id="67" name="Google Shape;67;p7"/>
          <p:cNvSpPr txBox="1"/>
          <p:nvPr/>
        </p:nvSpPr>
        <p:spPr>
          <a:xfrm>
            <a:off x="868675" y="2148850"/>
            <a:ext cx="10592700" cy="3183900"/>
          </a:xfrm>
          <a:prstGeom prst="rect">
            <a:avLst/>
          </a:prstGeom>
          <a:noFill/>
          <a:ln>
            <a:noFill/>
          </a:ln>
        </p:spPr>
        <p:txBody>
          <a:bodyPr spcFirstLastPara="1" wrap="square" lIns="0" tIns="0" rIns="0" bIns="0" anchor="t" anchorCtr="0">
            <a:noAutofit/>
          </a:bodyPr>
          <a:lstStyle/>
          <a:p>
            <a:pPr marL="279400" marR="0" lvl="0" indent="-304800" algn="l" rtl="0">
              <a:spcBef>
                <a:spcPts val="1000"/>
              </a:spcBef>
              <a:spcAft>
                <a:spcPts val="0"/>
              </a:spcAft>
              <a:buClr>
                <a:schemeClr val="accent1"/>
              </a:buClr>
              <a:buSzPts val="2200"/>
              <a:buFont typeface="Calibri"/>
              <a:buChar char="•"/>
            </a:pPr>
            <a:r>
              <a:rPr lang="en-US" sz="1800" dirty="0">
                <a:solidFill>
                  <a:schemeClr val="dk1"/>
                </a:solidFill>
                <a:latin typeface="Calibri"/>
                <a:ea typeface="Calibri"/>
                <a:cs typeface="Calibri"/>
                <a:sym typeface="Calibri"/>
              </a:rPr>
              <a:t> </a:t>
            </a:r>
            <a:r>
              <a:rPr lang="en-US" sz="2600" dirty="0">
                <a:solidFill>
                  <a:schemeClr val="dk1"/>
                </a:solidFill>
                <a:latin typeface="Calibri"/>
                <a:ea typeface="Calibri"/>
                <a:cs typeface="Calibri"/>
                <a:sym typeface="Calibri"/>
              </a:rPr>
              <a:t>Smallholder farmers lose a part of their earning to middle men as they cannot directly access the buyers.</a:t>
            </a:r>
            <a:endParaRPr sz="2600" dirty="0">
              <a:solidFill>
                <a:schemeClr val="dk1"/>
              </a:solidFill>
              <a:latin typeface="Calibri"/>
              <a:ea typeface="Calibri"/>
              <a:cs typeface="Calibri"/>
              <a:sym typeface="Calibri"/>
            </a:endParaRPr>
          </a:p>
          <a:p>
            <a:pPr marL="279400" marR="0" lvl="0" indent="-330200" algn="l" rtl="0">
              <a:spcBef>
                <a:spcPts val="1000"/>
              </a:spcBef>
              <a:spcAft>
                <a:spcPts val="0"/>
              </a:spcAft>
              <a:buClr>
                <a:schemeClr val="dk1"/>
              </a:buClr>
              <a:buSzPts val="2600"/>
              <a:buFont typeface="Calibri"/>
              <a:buChar char="•"/>
            </a:pPr>
            <a:r>
              <a:rPr lang="en-US" sz="2600" dirty="0">
                <a:solidFill>
                  <a:schemeClr val="dk1"/>
                </a:solidFill>
                <a:latin typeface="Calibri"/>
                <a:ea typeface="Calibri"/>
                <a:cs typeface="Calibri"/>
                <a:sym typeface="Calibri"/>
              </a:rPr>
              <a:t>Farmers often lack access to market price. They usually sell the yield to the nearest buyer without knowing whether better prices are available, a few district away.</a:t>
            </a:r>
            <a:endParaRPr sz="2600" dirty="0">
              <a:solidFill>
                <a:schemeClr val="dk1"/>
              </a:solidFill>
              <a:latin typeface="Calibri"/>
              <a:ea typeface="Calibri"/>
              <a:cs typeface="Calibri"/>
              <a:sym typeface="Calibri"/>
            </a:endParaRPr>
          </a:p>
          <a:p>
            <a:pPr marL="279400" marR="0" lvl="0" indent="-330200" algn="l" rtl="0">
              <a:spcBef>
                <a:spcPts val="1000"/>
              </a:spcBef>
              <a:spcAft>
                <a:spcPts val="0"/>
              </a:spcAft>
              <a:buClr>
                <a:schemeClr val="dk1"/>
              </a:buClr>
              <a:buSzPts val="2600"/>
              <a:buFont typeface="Calibri"/>
              <a:buChar char="•"/>
            </a:pPr>
            <a:r>
              <a:rPr lang="en-US" sz="2600" dirty="0">
                <a:solidFill>
                  <a:schemeClr val="dk1"/>
                </a:solidFill>
                <a:latin typeface="Calibri"/>
                <a:ea typeface="Calibri"/>
                <a:cs typeface="Calibri"/>
                <a:sym typeface="Calibri"/>
              </a:rPr>
              <a:t>cold storage facilities are far </a:t>
            </a:r>
            <a:r>
              <a:rPr lang="en-US" sz="2600" dirty="0" err="1">
                <a:solidFill>
                  <a:schemeClr val="dk1"/>
                </a:solidFill>
                <a:latin typeface="Calibri"/>
                <a:ea typeface="Calibri"/>
                <a:cs typeface="Calibri"/>
                <a:sym typeface="Calibri"/>
              </a:rPr>
              <a:t>away,built</a:t>
            </a:r>
            <a:r>
              <a:rPr lang="en-US" sz="2600" dirty="0">
                <a:solidFill>
                  <a:schemeClr val="dk1"/>
                </a:solidFill>
                <a:latin typeface="Calibri"/>
                <a:ea typeface="Calibri"/>
                <a:cs typeface="Calibri"/>
                <a:sym typeface="Calibri"/>
              </a:rPr>
              <a:t> for big </a:t>
            </a:r>
            <a:r>
              <a:rPr lang="en-US" sz="2600" dirty="0" err="1">
                <a:solidFill>
                  <a:schemeClr val="dk1"/>
                </a:solidFill>
                <a:latin typeface="Calibri"/>
                <a:ea typeface="Calibri"/>
                <a:cs typeface="Calibri"/>
                <a:sym typeface="Calibri"/>
              </a:rPr>
              <a:t>traders,and</a:t>
            </a:r>
            <a:r>
              <a:rPr lang="en-US" sz="2600" dirty="0">
                <a:solidFill>
                  <a:schemeClr val="dk1"/>
                </a:solidFill>
                <a:latin typeface="Calibri"/>
                <a:ea typeface="Calibri"/>
                <a:cs typeface="Calibri"/>
                <a:sym typeface="Calibri"/>
              </a:rPr>
              <a:t> has no real time booking for small daily harvests</a:t>
            </a:r>
            <a:endParaRPr sz="2600" dirty="0">
              <a:solidFill>
                <a:schemeClr val="dk1"/>
              </a:solidFill>
              <a:latin typeface="Calibri"/>
              <a:ea typeface="Calibri"/>
              <a:cs typeface="Calibri"/>
              <a:sym typeface="Calibri"/>
            </a:endParaRPr>
          </a:p>
          <a:p>
            <a:pPr marL="457200" marR="0" lvl="0" indent="0" algn="l" rtl="0">
              <a:spcBef>
                <a:spcPts val="1000"/>
              </a:spcBef>
              <a:spcAft>
                <a:spcPts val="0"/>
              </a:spcAft>
              <a:buNone/>
            </a:pPr>
            <a:endParaRPr sz="2600" dirty="0">
              <a:solidFill>
                <a:schemeClr val="dk1"/>
              </a:solidFill>
              <a:latin typeface="Calibri"/>
              <a:ea typeface="Calibri"/>
              <a:cs typeface="Calibri"/>
              <a:sym typeface="Calibri"/>
            </a:endParaRPr>
          </a:p>
          <a:p>
            <a:pPr marL="0" marR="0" lvl="0" indent="0" algn="l" rtl="0">
              <a:spcBef>
                <a:spcPts val="1000"/>
              </a:spcBef>
              <a:spcAft>
                <a:spcPts val="0"/>
              </a:spcAft>
              <a:buNone/>
            </a:pPr>
            <a:endParaRPr sz="1800" dirty="0">
              <a:solidFill>
                <a:schemeClr val="dk1"/>
              </a:solidFill>
              <a:latin typeface="Calibri"/>
              <a:ea typeface="Calibri"/>
              <a:cs typeface="Calibri"/>
              <a:sym typeface="Calibri"/>
            </a:endParaRPr>
          </a:p>
        </p:txBody>
      </p:sp>
      <p:sp>
        <p:nvSpPr>
          <p:cNvPr id="68" name="Google Shape;68;p7"/>
          <p:cNvSpPr txBox="1">
            <a:spLocks noGrp="1"/>
          </p:cNvSpPr>
          <p:nvPr>
            <p:ph type="sldNum" idx="4294967295"/>
          </p:nvPr>
        </p:nvSpPr>
        <p:spPr>
          <a:xfrm>
            <a:off x="11259007" y="6409944"/>
            <a:ext cx="457200" cy="396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fld id="{00000000-1234-1234-1234-123412341234}" type="slidenum">
              <a:rPr lang="en-US" sz="1100" b="1" i="0" u="none" strike="noStrike" cap="none">
                <a:solidFill>
                  <a:schemeClr val="dk2"/>
                </a:solidFill>
                <a:latin typeface="Calibri"/>
                <a:ea typeface="Calibri"/>
                <a:cs typeface="Calibri"/>
                <a:sym typeface="Calibri"/>
              </a:rPr>
              <a:t>5</a:t>
            </a:fld>
            <a:endParaRPr sz="1100" b="0" i="0" u="none" strike="noStrike" cap="none">
              <a:solidFill>
                <a:schemeClr val="dk2"/>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8"/>
          <p:cNvSpPr txBox="1">
            <a:spLocks noGrp="1"/>
          </p:cNvSpPr>
          <p:nvPr>
            <p:ph type="title"/>
          </p:nvPr>
        </p:nvSpPr>
        <p:spPr>
          <a:xfrm>
            <a:off x="3246120" y="320040"/>
            <a:ext cx="7498080" cy="82296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2"/>
              </a:buClr>
              <a:buSzPts val="2400"/>
              <a:buFont typeface="Cambria"/>
              <a:buNone/>
            </a:pPr>
            <a:r>
              <a:rPr lang="en-US" sz="2400" b="1" spc="100">
                <a:solidFill>
                  <a:schemeClr val="dk2"/>
                </a:solidFill>
                <a:latin typeface="Cambria"/>
                <a:ea typeface="Cambria"/>
                <a:cs typeface="Cambria"/>
                <a:sym typeface="Cambria"/>
              </a:rPr>
              <a:t>EXISTING SOLUTIONS / APPROACHES</a:t>
            </a:r>
            <a:endParaRPr sz="2400"/>
          </a:p>
        </p:txBody>
      </p:sp>
      <p:sp>
        <p:nvSpPr>
          <p:cNvPr id="75" name="Google Shape;75;p8"/>
          <p:cNvSpPr/>
          <p:nvPr/>
        </p:nvSpPr>
        <p:spPr>
          <a:xfrm>
            <a:off x="457200" y="320040"/>
            <a:ext cx="2606040" cy="822960"/>
          </a:xfrm>
          <a:prstGeom prst="roundRect">
            <a:avLst>
              <a:gd name="adj" fmla="val 13333"/>
            </a:avLst>
          </a:prstGeom>
          <a:solidFill>
            <a:schemeClr val="lt1"/>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8"/>
          <p:cNvSpPr/>
          <p:nvPr/>
        </p:nvSpPr>
        <p:spPr>
          <a:xfrm>
            <a:off x="603504" y="457200"/>
            <a:ext cx="630936" cy="548640"/>
          </a:xfrm>
          <a:prstGeom prst="hexagon">
            <a:avLst>
              <a:gd name="adj" fmla="val 25000"/>
              <a:gd name="vf" fmla="val 115470"/>
            </a:avLst>
          </a:prstGeom>
          <a:solidFill>
            <a:schemeClr val="lt2"/>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7" name="Google Shape;77;p8" descr="Team icon"/>
          <p:cNvPicPr preferRelativeResize="0"/>
          <p:nvPr/>
        </p:nvPicPr>
        <p:blipFill rotWithShape="1">
          <a:blip r:embed="rId3">
            <a:alphaModFix/>
          </a:blip>
          <a:srcRect/>
          <a:stretch/>
        </p:blipFill>
        <p:spPr>
          <a:xfrm>
            <a:off x="736092" y="548640"/>
            <a:ext cx="365760" cy="365760"/>
          </a:xfrm>
          <a:prstGeom prst="rect">
            <a:avLst/>
          </a:prstGeom>
          <a:noFill/>
          <a:ln>
            <a:noFill/>
          </a:ln>
        </p:spPr>
      </p:pic>
      <p:sp>
        <p:nvSpPr>
          <p:cNvPr id="78" name="Google Shape;78;p8"/>
          <p:cNvSpPr txBox="1"/>
          <p:nvPr/>
        </p:nvSpPr>
        <p:spPr>
          <a:xfrm>
            <a:off x="1371600" y="384048"/>
            <a:ext cx="1627632" cy="694944"/>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chemeClr val="accent5"/>
              </a:buClr>
              <a:buSzPts val="900"/>
              <a:buFont typeface="Calibri"/>
              <a:buNone/>
            </a:pPr>
            <a:r>
              <a:rPr lang="en-US" sz="900" b="1" i="0" u="none" strike="noStrike" cap="none" spc="300">
                <a:solidFill>
                  <a:schemeClr val="accent5"/>
                </a:solidFill>
                <a:latin typeface="Calibri"/>
                <a:ea typeface="Calibri"/>
                <a:cs typeface="Calibri"/>
                <a:sym typeface="Calibri"/>
              </a:rPr>
              <a:t>TEAM</a:t>
            </a:r>
            <a:endParaRPr sz="9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accent1"/>
              </a:buClr>
              <a:buSzPts val="1500"/>
              <a:buFont typeface="Calibri"/>
              <a:buNone/>
            </a:pPr>
            <a:r>
              <a:rPr lang="en-US" sz="1500" b="1">
                <a:solidFill>
                  <a:schemeClr val="accent1"/>
                </a:solidFill>
                <a:latin typeface="Calibri"/>
                <a:ea typeface="Calibri"/>
                <a:cs typeface="Calibri"/>
                <a:sym typeface="Calibri"/>
              </a:rPr>
              <a:t>Big band bytes</a:t>
            </a:r>
            <a:endParaRPr sz="900" b="0" i="0" u="none" strike="noStrike" cap="none">
              <a:solidFill>
                <a:schemeClr val="dk1"/>
              </a:solidFill>
              <a:latin typeface="Calibri"/>
              <a:ea typeface="Calibri"/>
              <a:cs typeface="Calibri"/>
              <a:sym typeface="Calibri"/>
            </a:endParaRPr>
          </a:p>
        </p:txBody>
      </p:sp>
      <p:sp>
        <p:nvSpPr>
          <p:cNvPr id="79" name="Google Shape;79;p8"/>
          <p:cNvSpPr/>
          <p:nvPr/>
        </p:nvSpPr>
        <p:spPr>
          <a:xfrm>
            <a:off x="548640" y="1463040"/>
            <a:ext cx="457200" cy="395935"/>
          </a:xfrm>
          <a:prstGeom prst="hexagon">
            <a:avLst>
              <a:gd name="adj" fmla="val 25000"/>
              <a:gd name="vf" fmla="val 11547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0" name="Google Shape;80;p8" descr="Lightbulb icon"/>
          <p:cNvPicPr preferRelativeResize="0"/>
          <p:nvPr/>
        </p:nvPicPr>
        <p:blipFill rotWithShape="1">
          <a:blip r:embed="rId4">
            <a:alphaModFix/>
          </a:blip>
          <a:srcRect/>
          <a:stretch/>
        </p:blipFill>
        <p:spPr>
          <a:xfrm>
            <a:off x="640080" y="1523390"/>
            <a:ext cx="274320" cy="274320"/>
          </a:xfrm>
          <a:prstGeom prst="rect">
            <a:avLst/>
          </a:prstGeom>
          <a:noFill/>
          <a:ln>
            <a:noFill/>
          </a:ln>
        </p:spPr>
      </p:pic>
      <p:sp>
        <p:nvSpPr>
          <p:cNvPr id="81" name="Google Shape;81;p8"/>
          <p:cNvSpPr txBox="1"/>
          <p:nvPr/>
        </p:nvSpPr>
        <p:spPr>
          <a:xfrm>
            <a:off x="883950" y="2316175"/>
            <a:ext cx="10916700" cy="2538300"/>
          </a:xfrm>
          <a:prstGeom prst="rect">
            <a:avLst/>
          </a:prstGeom>
          <a:noFill/>
          <a:ln>
            <a:noFill/>
          </a:ln>
        </p:spPr>
        <p:txBody>
          <a:bodyPr spcFirstLastPara="1" wrap="square" lIns="0" tIns="0" rIns="0" bIns="0" anchor="t" anchorCtr="0">
            <a:noAutofit/>
          </a:bodyPr>
          <a:lstStyle/>
          <a:p>
            <a:pPr marL="0" marR="0" lvl="0" indent="0" algn="l" rtl="0">
              <a:spcBef>
                <a:spcPts val="1000"/>
              </a:spcBef>
              <a:spcAft>
                <a:spcPts val="0"/>
              </a:spcAft>
              <a:buNone/>
            </a:pPr>
            <a:r>
              <a:rPr lang="en-US" sz="2700" b="1" u="sng" dirty="0">
                <a:latin typeface="Calibri"/>
                <a:ea typeface="Calibri"/>
                <a:cs typeface="Calibri"/>
                <a:sym typeface="Calibri"/>
              </a:rPr>
              <a:t>Government Agri- tech apps(</a:t>
            </a:r>
            <a:r>
              <a:rPr lang="en-US" sz="2700" b="1" u="sng" dirty="0" err="1">
                <a:latin typeface="Calibri"/>
                <a:ea typeface="Calibri"/>
                <a:cs typeface="Calibri"/>
                <a:sym typeface="Calibri"/>
              </a:rPr>
              <a:t>EX:e-NAM,Uzhavan,Kisan</a:t>
            </a:r>
            <a:r>
              <a:rPr lang="en-US" sz="2700" b="1" u="sng" dirty="0">
                <a:latin typeface="Calibri"/>
                <a:ea typeface="Calibri"/>
                <a:cs typeface="Calibri"/>
                <a:sym typeface="Calibri"/>
              </a:rPr>
              <a:t> </a:t>
            </a:r>
            <a:r>
              <a:rPr lang="en-US" sz="2700" b="1" u="sng" dirty="0" err="1">
                <a:latin typeface="Calibri"/>
                <a:ea typeface="Calibri"/>
                <a:cs typeface="Calibri"/>
                <a:sym typeface="Calibri"/>
              </a:rPr>
              <a:t>suvidha,etc</a:t>
            </a:r>
            <a:r>
              <a:rPr lang="en-US" sz="2700" b="1" u="sng" dirty="0">
                <a:latin typeface="Calibri"/>
                <a:ea typeface="Calibri"/>
                <a:cs typeface="Calibri"/>
                <a:sym typeface="Calibri"/>
              </a:rPr>
              <a:t>):</a:t>
            </a:r>
            <a:endParaRPr sz="2700" b="1" u="sng" dirty="0">
              <a:latin typeface="Calibri"/>
              <a:ea typeface="Calibri"/>
              <a:cs typeface="Calibri"/>
              <a:sym typeface="Calibri"/>
            </a:endParaRPr>
          </a:p>
          <a:p>
            <a:pPr marL="279400" marR="0" lvl="0" indent="-317500" algn="l" rtl="0">
              <a:spcBef>
                <a:spcPts val="1000"/>
              </a:spcBef>
              <a:spcAft>
                <a:spcPts val="0"/>
              </a:spcAft>
              <a:buClr>
                <a:schemeClr val="accent1"/>
              </a:buClr>
              <a:buSzPts val="2400"/>
              <a:buFont typeface="Calibri"/>
              <a:buChar char="•"/>
            </a:pPr>
            <a:r>
              <a:rPr lang="en-US" sz="2400" dirty="0">
                <a:solidFill>
                  <a:schemeClr val="dk1"/>
                </a:solidFill>
                <a:latin typeface="Calibri"/>
                <a:ea typeface="Calibri"/>
                <a:cs typeface="Calibri"/>
                <a:sym typeface="Calibri"/>
              </a:rPr>
              <a:t>Many farmers have low digital literacy which makes them difficult to access these apps, platforms that are built for desktop users.</a:t>
            </a:r>
            <a:endParaRPr sz="2400" dirty="0">
              <a:solidFill>
                <a:schemeClr val="dk1"/>
              </a:solidFill>
              <a:latin typeface="Calibri"/>
              <a:ea typeface="Calibri"/>
              <a:cs typeface="Calibri"/>
              <a:sym typeface="Calibri"/>
            </a:endParaRPr>
          </a:p>
          <a:p>
            <a:pPr marL="279400" marR="0" lvl="0" indent="-317500" algn="l" rtl="0">
              <a:spcBef>
                <a:spcPts val="1000"/>
              </a:spcBef>
              <a:spcAft>
                <a:spcPts val="0"/>
              </a:spcAft>
              <a:buClr>
                <a:schemeClr val="dk1"/>
              </a:buClr>
              <a:buSzPts val="2400"/>
              <a:buFont typeface="Calibri"/>
              <a:buChar char="•"/>
            </a:pPr>
            <a:r>
              <a:rPr lang="en-US" sz="2400" dirty="0">
                <a:solidFill>
                  <a:schemeClr val="dk1"/>
                </a:solidFill>
                <a:latin typeface="Calibri"/>
                <a:ea typeface="Calibri"/>
                <a:cs typeface="Calibri"/>
                <a:sym typeface="Calibri"/>
              </a:rPr>
              <a:t>These platforms rely on formal terminology that smallholder farmers cannot read or understand.</a:t>
            </a:r>
            <a:endParaRPr sz="2400" dirty="0">
              <a:solidFill>
                <a:schemeClr val="dk1"/>
              </a:solidFill>
              <a:latin typeface="Calibri"/>
              <a:ea typeface="Calibri"/>
              <a:cs typeface="Calibri"/>
              <a:sym typeface="Calibri"/>
            </a:endParaRPr>
          </a:p>
          <a:p>
            <a:pPr marL="457200" marR="0" lvl="0" indent="0" algn="l" rtl="0">
              <a:spcBef>
                <a:spcPts val="1000"/>
              </a:spcBef>
              <a:spcAft>
                <a:spcPts val="0"/>
              </a:spcAft>
              <a:buNone/>
            </a:pPr>
            <a:endParaRPr sz="2400" dirty="0">
              <a:solidFill>
                <a:schemeClr val="dk1"/>
              </a:solidFill>
              <a:latin typeface="Calibri"/>
              <a:ea typeface="Calibri"/>
              <a:cs typeface="Calibri"/>
              <a:sym typeface="Calibri"/>
            </a:endParaRPr>
          </a:p>
        </p:txBody>
      </p:sp>
      <p:sp>
        <p:nvSpPr>
          <p:cNvPr id="82" name="Google Shape;82;p8"/>
          <p:cNvSpPr txBox="1">
            <a:spLocks noGrp="1"/>
          </p:cNvSpPr>
          <p:nvPr>
            <p:ph type="sldNum" idx="4294967295"/>
          </p:nvPr>
        </p:nvSpPr>
        <p:spPr>
          <a:xfrm>
            <a:off x="11259007" y="6409944"/>
            <a:ext cx="457200" cy="395935"/>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fld id="{00000000-1234-1234-1234-123412341234}" type="slidenum">
              <a:rPr lang="en-US" sz="1100" b="1" i="0" u="none" strike="noStrike" cap="none">
                <a:solidFill>
                  <a:schemeClr val="dk2"/>
                </a:solidFill>
                <a:latin typeface="Calibri"/>
                <a:ea typeface="Calibri"/>
                <a:cs typeface="Calibri"/>
                <a:sym typeface="Calibri"/>
              </a:rPr>
              <a:t>6</a:t>
            </a:fld>
            <a:endParaRPr sz="1100" b="0" i="0" u="none" strike="noStrike" cap="none">
              <a:solidFill>
                <a:schemeClr val="dk2"/>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9"/>
          <p:cNvSpPr txBox="1">
            <a:spLocks noGrp="1"/>
          </p:cNvSpPr>
          <p:nvPr>
            <p:ph type="title"/>
          </p:nvPr>
        </p:nvSpPr>
        <p:spPr>
          <a:xfrm>
            <a:off x="3246120" y="320040"/>
            <a:ext cx="7498200" cy="822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2"/>
              </a:buClr>
              <a:buSzPts val="2400"/>
              <a:buFont typeface="Cambria"/>
              <a:buNone/>
            </a:pPr>
            <a:r>
              <a:rPr lang="en-US" sz="2400" b="1" spc="100">
                <a:solidFill>
                  <a:schemeClr val="dk2"/>
                </a:solidFill>
                <a:latin typeface="Cambria"/>
                <a:ea typeface="Cambria"/>
                <a:cs typeface="Cambria"/>
                <a:sym typeface="Cambria"/>
              </a:rPr>
              <a:t>PROBLEM INSIGHTS &amp; OPPORTUNITY AREAS</a:t>
            </a:r>
            <a:endParaRPr sz="2400"/>
          </a:p>
        </p:txBody>
      </p:sp>
      <p:sp>
        <p:nvSpPr>
          <p:cNvPr id="89" name="Google Shape;89;p9"/>
          <p:cNvSpPr/>
          <p:nvPr/>
        </p:nvSpPr>
        <p:spPr>
          <a:xfrm>
            <a:off x="457200" y="320040"/>
            <a:ext cx="2606100" cy="822900"/>
          </a:xfrm>
          <a:prstGeom prst="roundRect">
            <a:avLst>
              <a:gd name="adj" fmla="val 13333"/>
            </a:avLst>
          </a:prstGeom>
          <a:solidFill>
            <a:schemeClr val="lt1"/>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9"/>
          <p:cNvSpPr/>
          <p:nvPr/>
        </p:nvSpPr>
        <p:spPr>
          <a:xfrm>
            <a:off x="603504" y="457200"/>
            <a:ext cx="630900" cy="548700"/>
          </a:xfrm>
          <a:prstGeom prst="hexagon">
            <a:avLst>
              <a:gd name="adj" fmla="val 25000"/>
              <a:gd name="vf" fmla="val 115470"/>
            </a:avLst>
          </a:prstGeom>
          <a:solidFill>
            <a:schemeClr val="lt2"/>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1" name="Google Shape;91;p9" descr="Team icon"/>
          <p:cNvPicPr preferRelativeResize="0"/>
          <p:nvPr/>
        </p:nvPicPr>
        <p:blipFill rotWithShape="1">
          <a:blip r:embed="rId3">
            <a:alphaModFix/>
          </a:blip>
          <a:srcRect/>
          <a:stretch/>
        </p:blipFill>
        <p:spPr>
          <a:xfrm>
            <a:off x="736092" y="548640"/>
            <a:ext cx="365760" cy="365760"/>
          </a:xfrm>
          <a:prstGeom prst="rect">
            <a:avLst/>
          </a:prstGeom>
          <a:noFill/>
          <a:ln>
            <a:noFill/>
          </a:ln>
        </p:spPr>
      </p:pic>
      <p:sp>
        <p:nvSpPr>
          <p:cNvPr id="92" name="Google Shape;92;p9"/>
          <p:cNvSpPr txBox="1"/>
          <p:nvPr/>
        </p:nvSpPr>
        <p:spPr>
          <a:xfrm>
            <a:off x="1371600" y="452084"/>
            <a:ext cx="1627500" cy="694800"/>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chemeClr val="accent5"/>
              </a:buClr>
              <a:buSzPts val="900"/>
              <a:buFont typeface="Calibri"/>
              <a:buNone/>
            </a:pPr>
            <a:r>
              <a:rPr lang="en-US" sz="900" b="1" i="0" u="none" strike="noStrike" cap="none" spc="300">
                <a:solidFill>
                  <a:schemeClr val="accent5"/>
                </a:solidFill>
                <a:latin typeface="Calibri"/>
                <a:ea typeface="Calibri"/>
                <a:cs typeface="Calibri"/>
                <a:sym typeface="Calibri"/>
              </a:rPr>
              <a:t>TEAM</a:t>
            </a:r>
            <a:endParaRPr sz="900" b="0" i="0" u="none" strike="noStrike" cap="none">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r>
              <a:rPr lang="en-US" sz="1500" b="1">
                <a:solidFill>
                  <a:schemeClr val="accent1"/>
                </a:solidFill>
                <a:latin typeface="Calibri"/>
                <a:ea typeface="Calibri"/>
                <a:cs typeface="Calibri"/>
                <a:sym typeface="Calibri"/>
              </a:rPr>
              <a:t>Big band bytes</a:t>
            </a:r>
            <a:endParaRPr sz="1500" b="1">
              <a:solidFill>
                <a:schemeClr val="accent1"/>
              </a:solidFill>
              <a:latin typeface="Calibri"/>
              <a:ea typeface="Calibri"/>
              <a:cs typeface="Calibri"/>
              <a:sym typeface="Calibri"/>
            </a:endParaRPr>
          </a:p>
          <a:p>
            <a:pPr marL="0" marR="0" lvl="0" indent="0" algn="l" rtl="0">
              <a:spcBef>
                <a:spcPts val="0"/>
              </a:spcBef>
              <a:spcAft>
                <a:spcPts val="0"/>
              </a:spcAft>
              <a:buClr>
                <a:schemeClr val="accent1"/>
              </a:buClr>
              <a:buSzPts val="1500"/>
              <a:buFont typeface="Calibri"/>
              <a:buNone/>
            </a:pPr>
            <a:endParaRPr sz="1500" b="1">
              <a:solidFill>
                <a:schemeClr val="accent1"/>
              </a:solidFill>
              <a:latin typeface="Calibri"/>
              <a:ea typeface="Calibri"/>
              <a:cs typeface="Calibri"/>
              <a:sym typeface="Calibri"/>
            </a:endParaRPr>
          </a:p>
        </p:txBody>
      </p:sp>
      <p:sp>
        <p:nvSpPr>
          <p:cNvPr id="93" name="Google Shape;93;p9"/>
          <p:cNvSpPr/>
          <p:nvPr/>
        </p:nvSpPr>
        <p:spPr>
          <a:xfrm>
            <a:off x="548640" y="1463040"/>
            <a:ext cx="457200" cy="396000"/>
          </a:xfrm>
          <a:prstGeom prst="hexagon">
            <a:avLst>
              <a:gd name="adj" fmla="val 25000"/>
              <a:gd name="vf" fmla="val 11547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4" name="Google Shape;94;p9" descr="Lightbulb icon"/>
          <p:cNvPicPr preferRelativeResize="0"/>
          <p:nvPr/>
        </p:nvPicPr>
        <p:blipFill rotWithShape="1">
          <a:blip r:embed="rId4">
            <a:alphaModFix/>
          </a:blip>
          <a:srcRect/>
          <a:stretch/>
        </p:blipFill>
        <p:spPr>
          <a:xfrm>
            <a:off x="640080" y="1523390"/>
            <a:ext cx="274320" cy="274320"/>
          </a:xfrm>
          <a:prstGeom prst="rect">
            <a:avLst/>
          </a:prstGeom>
          <a:noFill/>
          <a:ln>
            <a:noFill/>
          </a:ln>
        </p:spPr>
      </p:pic>
      <p:sp>
        <p:nvSpPr>
          <p:cNvPr id="95" name="Google Shape;95;p9"/>
          <p:cNvSpPr txBox="1"/>
          <p:nvPr/>
        </p:nvSpPr>
        <p:spPr>
          <a:xfrm>
            <a:off x="1170432" y="1417320"/>
            <a:ext cx="9601200" cy="502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2"/>
              </a:buClr>
              <a:buSzPts val="1800"/>
              <a:buFont typeface="Calibri"/>
              <a:buNone/>
            </a:pPr>
            <a:r>
              <a:rPr lang="en-US" sz="1800" b="1" i="0" u="none" strike="noStrike" cap="none">
                <a:solidFill>
                  <a:schemeClr val="accent2"/>
                </a:solidFill>
                <a:latin typeface="Calibri"/>
                <a:ea typeface="Calibri"/>
                <a:cs typeface="Calibri"/>
                <a:sym typeface="Calibri"/>
              </a:rPr>
              <a:t>Resources required to solve the problem</a:t>
            </a:r>
            <a:endParaRPr sz="1800" b="0" i="0" u="none" strike="noStrike" cap="none">
              <a:solidFill>
                <a:schemeClr val="dk1"/>
              </a:solidFill>
              <a:latin typeface="Calibri"/>
              <a:ea typeface="Calibri"/>
              <a:cs typeface="Calibri"/>
              <a:sym typeface="Calibri"/>
            </a:endParaRPr>
          </a:p>
        </p:txBody>
      </p:sp>
      <p:sp>
        <p:nvSpPr>
          <p:cNvPr id="96" name="Google Shape;96;p9"/>
          <p:cNvSpPr txBox="1">
            <a:spLocks noGrp="1"/>
          </p:cNvSpPr>
          <p:nvPr>
            <p:ph type="sldNum" idx="4294967295"/>
          </p:nvPr>
        </p:nvSpPr>
        <p:spPr>
          <a:xfrm>
            <a:off x="11259007" y="6409944"/>
            <a:ext cx="457200" cy="396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fld id="{00000000-1234-1234-1234-123412341234}" type="slidenum">
              <a:rPr lang="en-US" sz="1100" b="1" i="0" u="none" strike="noStrike" cap="none">
                <a:solidFill>
                  <a:schemeClr val="dk2"/>
                </a:solidFill>
                <a:latin typeface="Calibri"/>
                <a:ea typeface="Calibri"/>
                <a:cs typeface="Calibri"/>
                <a:sym typeface="Calibri"/>
              </a:rPr>
              <a:t>7</a:t>
            </a:fld>
            <a:endParaRPr sz="1100" b="0" i="0" u="none" strike="noStrike" cap="none">
              <a:solidFill>
                <a:schemeClr val="dk2"/>
              </a:solidFill>
              <a:latin typeface="Calibri"/>
              <a:ea typeface="Calibri"/>
              <a:cs typeface="Calibri"/>
              <a:sym typeface="Calibri"/>
            </a:endParaRPr>
          </a:p>
        </p:txBody>
      </p:sp>
      <p:sp>
        <p:nvSpPr>
          <p:cNvPr id="97" name="Google Shape;97;p9"/>
          <p:cNvSpPr txBox="1"/>
          <p:nvPr/>
        </p:nvSpPr>
        <p:spPr>
          <a:xfrm>
            <a:off x="868675" y="2148862"/>
            <a:ext cx="10424100" cy="3647100"/>
          </a:xfrm>
          <a:prstGeom prst="rect">
            <a:avLst/>
          </a:prstGeom>
          <a:noFill/>
          <a:ln>
            <a:noFill/>
          </a:ln>
        </p:spPr>
        <p:txBody>
          <a:bodyPr spcFirstLastPara="1" wrap="square" lIns="0" tIns="0" rIns="0" bIns="0" anchor="t" anchorCtr="0">
            <a:noAutofit/>
          </a:bodyPr>
          <a:lstStyle/>
          <a:p>
            <a:pPr marL="279400" marR="0" lvl="0" indent="-279400" algn="l" rtl="0">
              <a:spcBef>
                <a:spcPts val="0"/>
              </a:spcBef>
              <a:spcAft>
                <a:spcPts val="0"/>
              </a:spcAft>
              <a:buClr>
                <a:schemeClr val="accent1"/>
              </a:buClr>
              <a:buSzPts val="1800"/>
              <a:buFont typeface="Calibri"/>
              <a:buChar char="•"/>
            </a:pPr>
            <a:r>
              <a:rPr lang="en-US" sz="1800" b="1" i="0" u="none" strike="noStrike" cap="none" dirty="0">
                <a:solidFill>
                  <a:schemeClr val="dk1"/>
                </a:solidFill>
                <a:latin typeface="Calibri"/>
                <a:ea typeface="Calibri"/>
                <a:cs typeface="Calibri"/>
                <a:sym typeface="Calibri"/>
              </a:rPr>
              <a:t>Hardware Requirements:</a:t>
            </a:r>
            <a:endParaRPr sz="1800" b="1" i="0" u="none" strike="noStrike" cap="none" dirty="0">
              <a:solidFill>
                <a:schemeClr val="dk1"/>
              </a:solidFill>
              <a:latin typeface="Calibri"/>
              <a:ea typeface="Calibri"/>
              <a:cs typeface="Calibri"/>
              <a:sym typeface="Calibri"/>
            </a:endParaRPr>
          </a:p>
          <a:p>
            <a:pPr marL="457200" marR="0" lvl="0" indent="0" algn="l" rtl="0">
              <a:spcBef>
                <a:spcPts val="0"/>
              </a:spcBef>
              <a:spcAft>
                <a:spcPts val="0"/>
              </a:spcAft>
              <a:buNone/>
            </a:pPr>
            <a:r>
              <a:rPr lang="en-US" sz="1800" dirty="0">
                <a:solidFill>
                  <a:schemeClr val="dk1"/>
                </a:solidFill>
                <a:latin typeface="Calibri"/>
                <a:ea typeface="Calibri"/>
                <a:cs typeface="Calibri"/>
                <a:sym typeface="Calibri"/>
              </a:rPr>
              <a:t>Computers/</a:t>
            </a:r>
            <a:r>
              <a:rPr lang="en-US" sz="1800" dirty="0" err="1">
                <a:solidFill>
                  <a:schemeClr val="dk1"/>
                </a:solidFill>
                <a:latin typeface="Calibri"/>
                <a:ea typeface="Calibri"/>
                <a:cs typeface="Calibri"/>
                <a:sym typeface="Calibri"/>
              </a:rPr>
              <a:t>Laptops,Smartphones,Internet</a:t>
            </a:r>
            <a:r>
              <a:rPr lang="en-US" sz="1800" dirty="0">
                <a:solidFill>
                  <a:schemeClr val="dk1"/>
                </a:solidFill>
                <a:latin typeface="Calibri"/>
                <a:ea typeface="Calibri"/>
                <a:cs typeface="Calibri"/>
                <a:sym typeface="Calibri"/>
              </a:rPr>
              <a:t> </a:t>
            </a:r>
            <a:r>
              <a:rPr lang="en-US" sz="1800" dirty="0" err="1">
                <a:solidFill>
                  <a:schemeClr val="dk1"/>
                </a:solidFill>
                <a:latin typeface="Calibri"/>
                <a:ea typeface="Calibri"/>
                <a:cs typeface="Calibri"/>
                <a:sym typeface="Calibri"/>
              </a:rPr>
              <a:t>Connectivity,Storage,Cold</a:t>
            </a:r>
            <a:r>
              <a:rPr lang="en-US" sz="1800" dirty="0">
                <a:solidFill>
                  <a:schemeClr val="dk1"/>
                </a:solidFill>
                <a:latin typeface="Calibri"/>
                <a:ea typeface="Calibri"/>
                <a:cs typeface="Calibri"/>
                <a:sym typeface="Calibri"/>
              </a:rPr>
              <a:t> storage </a:t>
            </a:r>
            <a:r>
              <a:rPr lang="en-US" sz="1800" dirty="0" err="1">
                <a:solidFill>
                  <a:schemeClr val="dk1"/>
                </a:solidFill>
                <a:latin typeface="Calibri"/>
                <a:ea typeface="Calibri"/>
                <a:cs typeface="Calibri"/>
                <a:sym typeface="Calibri"/>
              </a:rPr>
              <a:t>facilities,IoT</a:t>
            </a:r>
            <a:r>
              <a:rPr lang="en-US" sz="1800" dirty="0">
                <a:solidFill>
                  <a:schemeClr val="dk1"/>
                </a:solidFill>
                <a:latin typeface="Calibri"/>
                <a:ea typeface="Calibri"/>
                <a:cs typeface="Calibri"/>
                <a:sym typeface="Calibri"/>
              </a:rPr>
              <a:t> Sensors(optional).</a:t>
            </a:r>
            <a:endParaRPr sz="1800" dirty="0">
              <a:solidFill>
                <a:schemeClr val="dk1"/>
              </a:solidFill>
              <a:latin typeface="Calibri"/>
              <a:ea typeface="Calibri"/>
              <a:cs typeface="Calibri"/>
              <a:sym typeface="Calibri"/>
            </a:endParaRPr>
          </a:p>
          <a:p>
            <a:pPr marL="279400" marR="0" lvl="0" indent="-279400" algn="l" rtl="0">
              <a:spcBef>
                <a:spcPts val="1000"/>
              </a:spcBef>
              <a:spcAft>
                <a:spcPts val="0"/>
              </a:spcAft>
              <a:buClr>
                <a:schemeClr val="accent1"/>
              </a:buClr>
              <a:buSzPts val="1800"/>
              <a:buFont typeface="Calibri"/>
              <a:buChar char="•"/>
            </a:pPr>
            <a:r>
              <a:rPr lang="en-US" sz="1800" b="1" i="0" u="none" strike="noStrike" cap="none" dirty="0">
                <a:solidFill>
                  <a:schemeClr val="dk1"/>
                </a:solidFill>
                <a:latin typeface="Calibri"/>
                <a:ea typeface="Calibri"/>
                <a:cs typeface="Calibri"/>
                <a:sym typeface="Calibri"/>
              </a:rPr>
              <a:t>Software Requirements:</a:t>
            </a:r>
            <a:endParaRPr sz="1800" b="1" i="0" u="none" strike="noStrike" cap="none" dirty="0">
              <a:solidFill>
                <a:schemeClr val="dk1"/>
              </a:solidFill>
              <a:latin typeface="Calibri"/>
              <a:ea typeface="Calibri"/>
              <a:cs typeface="Calibri"/>
              <a:sym typeface="Calibri"/>
            </a:endParaRPr>
          </a:p>
          <a:p>
            <a:pPr marL="457200" marR="0" lvl="0" indent="0" algn="l" rtl="0">
              <a:spcBef>
                <a:spcPts val="1000"/>
              </a:spcBef>
              <a:spcAft>
                <a:spcPts val="0"/>
              </a:spcAft>
              <a:buNone/>
            </a:pPr>
            <a:r>
              <a:rPr lang="en-US" sz="1800" dirty="0">
                <a:solidFill>
                  <a:schemeClr val="dk1"/>
                </a:solidFill>
                <a:latin typeface="Calibri"/>
                <a:ea typeface="Calibri"/>
                <a:cs typeface="Calibri"/>
                <a:sym typeface="Calibri"/>
              </a:rPr>
              <a:t>Frontend development: HTML, CSS, </a:t>
            </a:r>
            <a:r>
              <a:rPr lang="en-US" sz="1800" dirty="0" err="1">
                <a:solidFill>
                  <a:schemeClr val="dk1"/>
                </a:solidFill>
                <a:latin typeface="Calibri"/>
                <a:ea typeface="Calibri"/>
                <a:cs typeface="Calibri"/>
                <a:sym typeface="Calibri"/>
              </a:rPr>
              <a:t>JavaScript;Backend</a:t>
            </a:r>
            <a:r>
              <a:rPr lang="en-US" sz="1800" dirty="0">
                <a:solidFill>
                  <a:schemeClr val="dk1"/>
                </a:solidFill>
                <a:latin typeface="Calibri"/>
                <a:ea typeface="Calibri"/>
                <a:cs typeface="Calibri"/>
                <a:sym typeface="Calibri"/>
              </a:rPr>
              <a:t> development: Python (Flask or Django) or Node JS;</a:t>
            </a:r>
            <a:endParaRPr sz="1800" dirty="0">
              <a:solidFill>
                <a:schemeClr val="dk1"/>
              </a:solidFill>
              <a:latin typeface="Calibri"/>
              <a:ea typeface="Calibri"/>
              <a:cs typeface="Calibri"/>
              <a:sym typeface="Calibri"/>
            </a:endParaRPr>
          </a:p>
          <a:p>
            <a:pPr marL="457200" marR="0" lvl="0" indent="0" algn="l" rtl="0">
              <a:spcBef>
                <a:spcPts val="1000"/>
              </a:spcBef>
              <a:spcAft>
                <a:spcPts val="0"/>
              </a:spcAft>
              <a:buNone/>
            </a:pPr>
            <a:r>
              <a:rPr lang="en-US" sz="1800" dirty="0" err="1">
                <a:solidFill>
                  <a:schemeClr val="dk1"/>
                </a:solidFill>
                <a:latin typeface="Calibri"/>
                <a:ea typeface="Calibri"/>
                <a:cs typeface="Calibri"/>
                <a:sym typeface="Calibri"/>
              </a:rPr>
              <a:t>Database,Multilingual</a:t>
            </a:r>
            <a:r>
              <a:rPr lang="en-US" sz="1800" dirty="0">
                <a:solidFill>
                  <a:schemeClr val="dk1"/>
                </a:solidFill>
                <a:latin typeface="Calibri"/>
                <a:ea typeface="Calibri"/>
                <a:cs typeface="Calibri"/>
                <a:sym typeface="Calibri"/>
              </a:rPr>
              <a:t> </a:t>
            </a:r>
            <a:r>
              <a:rPr lang="en-US" sz="1800" dirty="0" err="1">
                <a:solidFill>
                  <a:schemeClr val="dk1"/>
                </a:solidFill>
                <a:latin typeface="Calibri"/>
                <a:ea typeface="Calibri"/>
                <a:cs typeface="Calibri"/>
                <a:sym typeface="Calibri"/>
              </a:rPr>
              <a:t>support,Cloud</a:t>
            </a:r>
            <a:r>
              <a:rPr lang="en-US" sz="1800" dirty="0">
                <a:solidFill>
                  <a:schemeClr val="dk1"/>
                </a:solidFill>
                <a:latin typeface="Calibri"/>
                <a:ea typeface="Calibri"/>
                <a:cs typeface="Calibri"/>
                <a:sym typeface="Calibri"/>
              </a:rPr>
              <a:t> </a:t>
            </a:r>
            <a:r>
              <a:rPr lang="en-US" sz="1800" dirty="0" err="1">
                <a:solidFill>
                  <a:schemeClr val="dk1"/>
                </a:solidFill>
                <a:latin typeface="Calibri"/>
                <a:ea typeface="Calibri"/>
                <a:cs typeface="Calibri"/>
                <a:sym typeface="Calibri"/>
              </a:rPr>
              <a:t>hosting,Navigation</a:t>
            </a:r>
            <a:r>
              <a:rPr lang="en-US" sz="1800" dirty="0">
                <a:solidFill>
                  <a:schemeClr val="dk1"/>
                </a:solidFill>
                <a:latin typeface="Calibri"/>
                <a:ea typeface="Calibri"/>
                <a:cs typeface="Calibri"/>
                <a:sym typeface="Calibri"/>
              </a:rPr>
              <a:t> or </a:t>
            </a:r>
            <a:r>
              <a:rPr lang="en-US" sz="1800" dirty="0" err="1">
                <a:solidFill>
                  <a:schemeClr val="dk1"/>
                </a:solidFill>
                <a:latin typeface="Calibri"/>
                <a:ea typeface="Calibri"/>
                <a:cs typeface="Calibri"/>
                <a:sym typeface="Calibri"/>
              </a:rPr>
              <a:t>Maps,Communication</a:t>
            </a:r>
            <a:r>
              <a:rPr lang="en-US" sz="1800" dirty="0">
                <a:solidFill>
                  <a:schemeClr val="dk1"/>
                </a:solidFill>
                <a:latin typeface="Calibri"/>
                <a:ea typeface="Calibri"/>
                <a:cs typeface="Calibri"/>
                <a:sym typeface="Calibri"/>
              </a:rPr>
              <a:t> </a:t>
            </a:r>
            <a:r>
              <a:rPr lang="en-US" sz="1800" dirty="0" err="1">
                <a:solidFill>
                  <a:schemeClr val="dk1"/>
                </a:solidFill>
                <a:latin typeface="Calibri"/>
                <a:ea typeface="Calibri"/>
                <a:cs typeface="Calibri"/>
                <a:sym typeface="Calibri"/>
              </a:rPr>
              <a:t>Tools,AI</a:t>
            </a:r>
            <a:r>
              <a:rPr lang="en-US" sz="1800" dirty="0">
                <a:solidFill>
                  <a:schemeClr val="dk1"/>
                </a:solidFill>
                <a:latin typeface="Calibri"/>
                <a:ea typeface="Calibri"/>
                <a:cs typeface="Calibri"/>
                <a:sym typeface="Calibri"/>
              </a:rPr>
              <a:t>/Analytics (Optional).</a:t>
            </a:r>
            <a:endParaRPr sz="1800" dirty="0">
              <a:solidFill>
                <a:schemeClr val="dk1"/>
              </a:solidFill>
              <a:latin typeface="Calibri"/>
              <a:ea typeface="Calibri"/>
              <a:cs typeface="Calibri"/>
              <a:sym typeface="Calibri"/>
            </a:endParaRPr>
          </a:p>
          <a:p>
            <a:pPr marL="279400" marR="0" lvl="0" indent="-279400" algn="l" rtl="0">
              <a:spcBef>
                <a:spcPts val="1000"/>
              </a:spcBef>
              <a:spcAft>
                <a:spcPts val="0"/>
              </a:spcAft>
              <a:buClr>
                <a:schemeClr val="accent1"/>
              </a:buClr>
              <a:buSzPts val="1800"/>
              <a:buFont typeface="Calibri"/>
              <a:buChar char="•"/>
            </a:pPr>
            <a:r>
              <a:rPr lang="en-US" sz="1800" b="1" i="0" u="none" strike="noStrike" cap="none" dirty="0">
                <a:solidFill>
                  <a:schemeClr val="dk1"/>
                </a:solidFill>
                <a:latin typeface="Calibri"/>
                <a:ea typeface="Calibri"/>
                <a:cs typeface="Calibri"/>
                <a:sym typeface="Calibri"/>
              </a:rPr>
              <a:t>Other resources (Including Human Resources):</a:t>
            </a:r>
            <a:endParaRPr sz="1800" b="1" i="0" u="none" strike="noStrike" cap="none" dirty="0">
              <a:solidFill>
                <a:schemeClr val="dk1"/>
              </a:solidFill>
              <a:latin typeface="Calibri"/>
              <a:ea typeface="Calibri"/>
              <a:cs typeface="Calibri"/>
              <a:sym typeface="Calibri"/>
            </a:endParaRPr>
          </a:p>
          <a:p>
            <a:pPr marL="457200" marR="0" lvl="0" indent="0" algn="l" rtl="0">
              <a:spcBef>
                <a:spcPts val="1000"/>
              </a:spcBef>
              <a:spcAft>
                <a:spcPts val="0"/>
              </a:spcAft>
              <a:buNone/>
            </a:pPr>
            <a:r>
              <a:rPr lang="en-US" sz="1800" dirty="0">
                <a:solidFill>
                  <a:schemeClr val="dk1"/>
                </a:solidFill>
                <a:latin typeface="Calibri"/>
                <a:ea typeface="Calibri"/>
                <a:cs typeface="Calibri"/>
                <a:sym typeface="Calibri"/>
              </a:rPr>
              <a:t>Software </a:t>
            </a:r>
            <a:r>
              <a:rPr lang="en-US" sz="1800" dirty="0" err="1">
                <a:solidFill>
                  <a:schemeClr val="dk1"/>
                </a:solidFill>
                <a:latin typeface="Calibri"/>
                <a:ea typeface="Calibri"/>
                <a:cs typeface="Calibri"/>
                <a:sym typeface="Calibri"/>
              </a:rPr>
              <a:t>Developers,UI</a:t>
            </a:r>
            <a:r>
              <a:rPr lang="en-US" sz="1800" dirty="0">
                <a:solidFill>
                  <a:schemeClr val="dk1"/>
                </a:solidFill>
                <a:latin typeface="Calibri"/>
                <a:ea typeface="Calibri"/>
                <a:cs typeface="Calibri"/>
                <a:sym typeface="Calibri"/>
              </a:rPr>
              <a:t>/UX </a:t>
            </a:r>
            <a:r>
              <a:rPr lang="en-US" sz="1800" dirty="0" err="1">
                <a:solidFill>
                  <a:schemeClr val="dk1"/>
                </a:solidFill>
                <a:latin typeface="Calibri"/>
                <a:ea typeface="Calibri"/>
                <a:cs typeface="Calibri"/>
                <a:sym typeface="Calibri"/>
              </a:rPr>
              <a:t>Designers,Agricultural</a:t>
            </a:r>
            <a:r>
              <a:rPr lang="en-US" sz="1800" dirty="0">
                <a:solidFill>
                  <a:schemeClr val="dk1"/>
                </a:solidFill>
                <a:latin typeface="Calibri"/>
                <a:ea typeface="Calibri"/>
                <a:cs typeface="Calibri"/>
                <a:sym typeface="Calibri"/>
              </a:rPr>
              <a:t> </a:t>
            </a:r>
            <a:r>
              <a:rPr lang="en-US" sz="1800" dirty="0" err="1">
                <a:solidFill>
                  <a:schemeClr val="dk1"/>
                </a:solidFill>
                <a:latin typeface="Calibri"/>
                <a:ea typeface="Calibri"/>
                <a:cs typeface="Calibri"/>
                <a:sym typeface="Calibri"/>
              </a:rPr>
              <a:t>Experts,Farmer</a:t>
            </a:r>
            <a:r>
              <a:rPr lang="en-US" sz="1800" dirty="0">
                <a:solidFill>
                  <a:schemeClr val="dk1"/>
                </a:solidFill>
                <a:latin typeface="Calibri"/>
                <a:ea typeface="Calibri"/>
                <a:cs typeface="Calibri"/>
                <a:sym typeface="Calibri"/>
              </a:rPr>
              <a:t> </a:t>
            </a:r>
            <a:r>
              <a:rPr lang="en-US" sz="1800" dirty="0" err="1">
                <a:solidFill>
                  <a:schemeClr val="dk1"/>
                </a:solidFill>
                <a:latin typeface="Calibri"/>
                <a:ea typeface="Calibri"/>
                <a:cs typeface="Calibri"/>
                <a:sym typeface="Calibri"/>
              </a:rPr>
              <a:t>Representatives;Buyers</a:t>
            </a:r>
            <a:r>
              <a:rPr lang="en-US" sz="1800" dirty="0">
                <a:solidFill>
                  <a:schemeClr val="dk1"/>
                </a:solidFill>
                <a:latin typeface="Calibri"/>
                <a:ea typeface="Calibri"/>
                <a:cs typeface="Calibri"/>
                <a:sym typeface="Calibri"/>
              </a:rPr>
              <a:t>, Distributors, and </a:t>
            </a:r>
            <a:r>
              <a:rPr lang="en-US" sz="1800" dirty="0" err="1">
                <a:solidFill>
                  <a:schemeClr val="dk1"/>
                </a:solidFill>
                <a:latin typeface="Calibri"/>
                <a:ea typeface="Calibri"/>
                <a:cs typeface="Calibri"/>
                <a:sym typeface="Calibri"/>
              </a:rPr>
              <a:t>Traders;Cold</a:t>
            </a:r>
            <a:r>
              <a:rPr lang="en-US" sz="1800" dirty="0">
                <a:solidFill>
                  <a:schemeClr val="dk1"/>
                </a:solidFill>
                <a:latin typeface="Calibri"/>
                <a:ea typeface="Calibri"/>
                <a:cs typeface="Calibri"/>
                <a:sym typeface="Calibri"/>
              </a:rPr>
              <a:t> storage and logistics </a:t>
            </a:r>
            <a:r>
              <a:rPr lang="en-US" sz="1800" dirty="0" err="1">
                <a:solidFill>
                  <a:schemeClr val="dk1"/>
                </a:solidFill>
                <a:latin typeface="Calibri"/>
                <a:ea typeface="Calibri"/>
                <a:cs typeface="Calibri"/>
                <a:sym typeface="Calibri"/>
              </a:rPr>
              <a:t>partners,Language</a:t>
            </a:r>
            <a:r>
              <a:rPr lang="en-US" sz="1800" dirty="0">
                <a:solidFill>
                  <a:schemeClr val="dk1"/>
                </a:solidFill>
                <a:latin typeface="Calibri"/>
                <a:ea typeface="Calibri"/>
                <a:cs typeface="Calibri"/>
                <a:sym typeface="Calibri"/>
              </a:rPr>
              <a:t> translators.</a:t>
            </a:r>
            <a:endParaRPr sz="1800" dirty="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0"/>
          <p:cNvSpPr txBox="1">
            <a:spLocks noGrp="1"/>
          </p:cNvSpPr>
          <p:nvPr>
            <p:ph type="title"/>
          </p:nvPr>
        </p:nvSpPr>
        <p:spPr>
          <a:xfrm>
            <a:off x="3246120" y="320040"/>
            <a:ext cx="7498200" cy="822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2"/>
              </a:buClr>
              <a:buSzPts val="2400"/>
              <a:buFont typeface="Cambria"/>
              <a:buNone/>
            </a:pPr>
            <a:r>
              <a:rPr lang="en-US" sz="2400" b="1" spc="100">
                <a:solidFill>
                  <a:schemeClr val="dk2"/>
                </a:solidFill>
                <a:latin typeface="Cambria"/>
                <a:ea typeface="Cambria"/>
                <a:cs typeface="Cambria"/>
                <a:sym typeface="Cambria"/>
              </a:rPr>
              <a:t>INITIAL DIRECTION &amp; EXPECTED OUTCOME</a:t>
            </a:r>
            <a:endParaRPr sz="2400"/>
          </a:p>
        </p:txBody>
      </p:sp>
      <p:sp>
        <p:nvSpPr>
          <p:cNvPr id="104" name="Google Shape;104;p10"/>
          <p:cNvSpPr/>
          <p:nvPr/>
        </p:nvSpPr>
        <p:spPr>
          <a:xfrm>
            <a:off x="457200" y="320040"/>
            <a:ext cx="2606100" cy="822900"/>
          </a:xfrm>
          <a:prstGeom prst="roundRect">
            <a:avLst>
              <a:gd name="adj" fmla="val 13333"/>
            </a:avLst>
          </a:prstGeom>
          <a:solidFill>
            <a:schemeClr val="lt1"/>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0"/>
          <p:cNvSpPr/>
          <p:nvPr/>
        </p:nvSpPr>
        <p:spPr>
          <a:xfrm>
            <a:off x="603504" y="457200"/>
            <a:ext cx="630900" cy="548700"/>
          </a:xfrm>
          <a:prstGeom prst="hexagon">
            <a:avLst>
              <a:gd name="adj" fmla="val 25000"/>
              <a:gd name="vf" fmla="val 115470"/>
            </a:avLst>
          </a:prstGeom>
          <a:solidFill>
            <a:schemeClr val="lt2"/>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6" name="Google Shape;106;p10" descr="Team icon"/>
          <p:cNvPicPr preferRelativeResize="0"/>
          <p:nvPr/>
        </p:nvPicPr>
        <p:blipFill rotWithShape="1">
          <a:blip r:embed="rId3">
            <a:alphaModFix/>
          </a:blip>
          <a:srcRect/>
          <a:stretch/>
        </p:blipFill>
        <p:spPr>
          <a:xfrm>
            <a:off x="736092" y="548640"/>
            <a:ext cx="365760" cy="365760"/>
          </a:xfrm>
          <a:prstGeom prst="rect">
            <a:avLst/>
          </a:prstGeom>
          <a:noFill/>
          <a:ln>
            <a:noFill/>
          </a:ln>
        </p:spPr>
      </p:pic>
      <p:sp>
        <p:nvSpPr>
          <p:cNvPr id="107" name="Google Shape;107;p10"/>
          <p:cNvSpPr txBox="1"/>
          <p:nvPr/>
        </p:nvSpPr>
        <p:spPr>
          <a:xfrm>
            <a:off x="1371600" y="452084"/>
            <a:ext cx="1627500" cy="694800"/>
          </a:xfrm>
          <a:prstGeom prst="rect">
            <a:avLst/>
          </a:prstGeom>
          <a:noFill/>
          <a:ln>
            <a:noFill/>
          </a:ln>
        </p:spPr>
        <p:txBody>
          <a:bodyPr spcFirstLastPara="1" wrap="square" lIns="0" tIns="0" rIns="0" bIns="0" anchor="ctr" anchorCtr="0">
            <a:normAutofit/>
          </a:bodyPr>
          <a:lstStyle/>
          <a:p>
            <a:pPr marL="0" marR="0" lvl="0" indent="0" algn="l" rtl="0">
              <a:spcBef>
                <a:spcPts val="0"/>
              </a:spcBef>
              <a:spcAft>
                <a:spcPts val="0"/>
              </a:spcAft>
              <a:buClr>
                <a:schemeClr val="accent5"/>
              </a:buClr>
              <a:buSzPts val="900"/>
              <a:buFont typeface="Calibri"/>
              <a:buNone/>
            </a:pPr>
            <a:r>
              <a:rPr lang="en-US" sz="900" b="1" i="0" u="none" strike="noStrike" cap="none" spc="300">
                <a:solidFill>
                  <a:schemeClr val="accent5"/>
                </a:solidFill>
                <a:latin typeface="Calibri"/>
                <a:ea typeface="Calibri"/>
                <a:cs typeface="Calibri"/>
                <a:sym typeface="Calibri"/>
              </a:rPr>
              <a:t>TEAM</a:t>
            </a:r>
            <a:endParaRPr sz="900" b="0" i="0" u="none" strike="noStrike" cap="none">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r>
              <a:rPr lang="en-US" sz="1500" b="1">
                <a:solidFill>
                  <a:schemeClr val="accent1"/>
                </a:solidFill>
                <a:latin typeface="Calibri"/>
                <a:ea typeface="Calibri"/>
                <a:cs typeface="Calibri"/>
                <a:sym typeface="Calibri"/>
              </a:rPr>
              <a:t>Big band bytes</a:t>
            </a:r>
            <a:endParaRPr sz="1500" b="1">
              <a:solidFill>
                <a:schemeClr val="accent1"/>
              </a:solidFill>
              <a:latin typeface="Calibri"/>
              <a:ea typeface="Calibri"/>
              <a:cs typeface="Calibri"/>
              <a:sym typeface="Calibri"/>
            </a:endParaRPr>
          </a:p>
          <a:p>
            <a:pPr marL="0" marR="0" lvl="0" indent="0" algn="l" rtl="0">
              <a:spcBef>
                <a:spcPts val="0"/>
              </a:spcBef>
              <a:spcAft>
                <a:spcPts val="0"/>
              </a:spcAft>
              <a:buClr>
                <a:schemeClr val="accent1"/>
              </a:buClr>
              <a:buSzPts val="1500"/>
              <a:buFont typeface="Calibri"/>
              <a:buNone/>
            </a:pPr>
            <a:endParaRPr sz="1500" b="1">
              <a:solidFill>
                <a:schemeClr val="accent1"/>
              </a:solidFill>
              <a:latin typeface="Calibri"/>
              <a:ea typeface="Calibri"/>
              <a:cs typeface="Calibri"/>
              <a:sym typeface="Calibri"/>
            </a:endParaRPr>
          </a:p>
        </p:txBody>
      </p:sp>
      <p:sp>
        <p:nvSpPr>
          <p:cNvPr id="108" name="Google Shape;108;p10"/>
          <p:cNvSpPr/>
          <p:nvPr/>
        </p:nvSpPr>
        <p:spPr>
          <a:xfrm>
            <a:off x="548640" y="1463040"/>
            <a:ext cx="457200" cy="396000"/>
          </a:xfrm>
          <a:prstGeom prst="hexagon">
            <a:avLst>
              <a:gd name="adj" fmla="val 25000"/>
              <a:gd name="vf" fmla="val 11547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9" name="Google Shape;109;p10" descr="Lightbulb icon"/>
          <p:cNvPicPr preferRelativeResize="0"/>
          <p:nvPr/>
        </p:nvPicPr>
        <p:blipFill rotWithShape="1">
          <a:blip r:embed="rId4">
            <a:alphaModFix/>
          </a:blip>
          <a:srcRect/>
          <a:stretch/>
        </p:blipFill>
        <p:spPr>
          <a:xfrm>
            <a:off x="640080" y="1523390"/>
            <a:ext cx="274320" cy="274320"/>
          </a:xfrm>
          <a:prstGeom prst="rect">
            <a:avLst/>
          </a:prstGeom>
          <a:noFill/>
          <a:ln>
            <a:noFill/>
          </a:ln>
        </p:spPr>
      </p:pic>
      <p:sp>
        <p:nvSpPr>
          <p:cNvPr id="110" name="Google Shape;110;p10"/>
          <p:cNvSpPr txBox="1"/>
          <p:nvPr/>
        </p:nvSpPr>
        <p:spPr>
          <a:xfrm>
            <a:off x="1170432" y="1417320"/>
            <a:ext cx="9601200" cy="502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2"/>
              </a:buClr>
              <a:buSzPts val="1800"/>
              <a:buFont typeface="Calibri"/>
              <a:buNone/>
            </a:pPr>
            <a:r>
              <a:rPr lang="en-US" sz="1800" b="1" i="0" u="none" strike="noStrike" cap="none">
                <a:solidFill>
                  <a:schemeClr val="accent2"/>
                </a:solidFill>
                <a:latin typeface="Calibri"/>
                <a:ea typeface="Calibri"/>
                <a:cs typeface="Calibri"/>
                <a:sym typeface="Calibri"/>
              </a:rPr>
              <a:t>What Is Your Expected Outcome? </a:t>
            </a:r>
            <a:endParaRPr sz="1800" b="0" i="0" u="none" strike="noStrike" cap="none">
              <a:solidFill>
                <a:schemeClr val="dk1"/>
              </a:solidFill>
              <a:latin typeface="Calibri"/>
              <a:ea typeface="Calibri"/>
              <a:cs typeface="Calibri"/>
              <a:sym typeface="Calibri"/>
            </a:endParaRPr>
          </a:p>
        </p:txBody>
      </p:sp>
      <p:sp>
        <p:nvSpPr>
          <p:cNvPr id="111" name="Google Shape;111;p10"/>
          <p:cNvSpPr txBox="1"/>
          <p:nvPr/>
        </p:nvSpPr>
        <p:spPr>
          <a:xfrm>
            <a:off x="868675" y="2148866"/>
            <a:ext cx="10424100" cy="4261200"/>
          </a:xfrm>
          <a:prstGeom prst="rect">
            <a:avLst/>
          </a:prstGeom>
          <a:noFill/>
          <a:ln>
            <a:noFill/>
          </a:ln>
        </p:spPr>
        <p:txBody>
          <a:bodyPr spcFirstLastPara="1" wrap="square" lIns="0" tIns="0" rIns="0" bIns="0" anchor="t" anchorCtr="0">
            <a:noAutofit/>
          </a:bodyPr>
          <a:lstStyle/>
          <a:p>
            <a:pPr marL="279400" marR="0" lvl="0" indent="-279400" algn="l" rtl="0">
              <a:spcBef>
                <a:spcPts val="0"/>
              </a:spcBef>
              <a:spcAft>
                <a:spcPts val="0"/>
              </a:spcAft>
              <a:buClr>
                <a:schemeClr val="accent1"/>
              </a:buClr>
              <a:buSzPts val="1800"/>
              <a:buFont typeface="Calibri"/>
              <a:buChar char="•"/>
            </a:pPr>
            <a:r>
              <a:rPr lang="en-US" sz="1800" b="1" i="0" u="none" strike="noStrike" cap="none" dirty="0">
                <a:solidFill>
                  <a:schemeClr val="dk1"/>
                </a:solidFill>
                <a:latin typeface="Calibri"/>
                <a:ea typeface="Calibri"/>
                <a:cs typeface="Calibri"/>
                <a:sym typeface="Calibri"/>
              </a:rPr>
              <a:t>What our team intends to </a:t>
            </a:r>
            <a:r>
              <a:rPr lang="en-US" sz="1800" b="1" i="0" u="none" strike="noStrike" cap="none" dirty="0" err="1">
                <a:solidFill>
                  <a:schemeClr val="dk1"/>
                </a:solidFill>
                <a:latin typeface="Calibri"/>
                <a:ea typeface="Calibri"/>
                <a:cs typeface="Calibri"/>
                <a:sym typeface="Calibri"/>
              </a:rPr>
              <a:t>do:</a:t>
            </a:r>
            <a:r>
              <a:rPr lang="en-US" sz="1800" dirty="0" err="1">
                <a:solidFill>
                  <a:schemeClr val="dk1"/>
                </a:solidFill>
                <a:latin typeface="Calibri"/>
                <a:ea typeface="Calibri"/>
                <a:cs typeface="Calibri"/>
                <a:sym typeface="Calibri"/>
              </a:rPr>
              <a:t>Our</a:t>
            </a:r>
            <a:r>
              <a:rPr lang="en-US" sz="1800" dirty="0">
                <a:solidFill>
                  <a:schemeClr val="dk1"/>
                </a:solidFill>
                <a:latin typeface="Calibri"/>
                <a:ea typeface="Calibri"/>
                <a:cs typeface="Calibri"/>
                <a:sym typeface="Calibri"/>
              </a:rPr>
              <a:t> team intends to design a simple digital platform that will directly connect small-scale farmers to commercial buyers while eliminating middlemen. The platform will be multilingual, include local language support, provide access to market prices, and information on cold storage places for agricultural commodities.</a:t>
            </a:r>
            <a:endParaRPr sz="1800" dirty="0">
              <a:solidFill>
                <a:schemeClr val="dk1"/>
              </a:solidFill>
              <a:latin typeface="Calibri"/>
              <a:ea typeface="Calibri"/>
              <a:cs typeface="Calibri"/>
              <a:sym typeface="Calibri"/>
            </a:endParaRPr>
          </a:p>
          <a:p>
            <a:pPr marL="279400" marR="0" lvl="0" indent="-279400" algn="l" rtl="0">
              <a:spcBef>
                <a:spcPts val="1000"/>
              </a:spcBef>
              <a:spcAft>
                <a:spcPts val="0"/>
              </a:spcAft>
              <a:buClr>
                <a:schemeClr val="accent1"/>
              </a:buClr>
              <a:buSzPts val="1800"/>
              <a:buFont typeface="Calibri"/>
              <a:buChar char="•"/>
            </a:pPr>
            <a:r>
              <a:rPr lang="en-US" sz="1800" b="1" i="0" u="none" strike="noStrike" cap="none" dirty="0">
                <a:solidFill>
                  <a:schemeClr val="dk1"/>
                </a:solidFill>
                <a:latin typeface="Calibri"/>
                <a:ea typeface="Calibri"/>
                <a:cs typeface="Calibri"/>
                <a:sym typeface="Calibri"/>
              </a:rPr>
              <a:t>What </a:t>
            </a:r>
            <a:r>
              <a:rPr lang="en-US" sz="1800" b="1" dirty="0">
                <a:solidFill>
                  <a:schemeClr val="dk1"/>
                </a:solidFill>
                <a:latin typeface="Calibri"/>
                <a:ea typeface="Calibri"/>
                <a:cs typeface="Calibri"/>
                <a:sym typeface="Calibri"/>
              </a:rPr>
              <a:t>we </a:t>
            </a:r>
            <a:r>
              <a:rPr lang="en-US" sz="1800" b="1" i="0" u="none" strike="noStrike" cap="none" dirty="0">
                <a:solidFill>
                  <a:schemeClr val="dk1"/>
                </a:solidFill>
                <a:latin typeface="Calibri"/>
                <a:ea typeface="Calibri"/>
                <a:cs typeface="Calibri"/>
                <a:sym typeface="Calibri"/>
              </a:rPr>
              <a:t>want to </a:t>
            </a:r>
            <a:r>
              <a:rPr lang="en-US" sz="1800" b="1" i="0" u="none" strike="noStrike" cap="none" dirty="0" err="1">
                <a:solidFill>
                  <a:schemeClr val="dk1"/>
                </a:solidFill>
                <a:latin typeface="Calibri"/>
                <a:ea typeface="Calibri"/>
                <a:cs typeface="Calibri"/>
                <a:sym typeface="Calibri"/>
              </a:rPr>
              <a:t>improve:</a:t>
            </a:r>
            <a:r>
              <a:rPr lang="en-US" sz="1800" dirty="0" err="1">
                <a:solidFill>
                  <a:schemeClr val="dk1"/>
                </a:solidFill>
                <a:latin typeface="Calibri"/>
                <a:ea typeface="Calibri"/>
                <a:cs typeface="Calibri"/>
                <a:sym typeface="Calibri"/>
              </a:rPr>
              <a:t>We</a:t>
            </a:r>
            <a:r>
              <a:rPr lang="en-US" sz="1800" dirty="0">
                <a:solidFill>
                  <a:schemeClr val="dk1"/>
                </a:solidFill>
                <a:latin typeface="Calibri"/>
                <a:ea typeface="Calibri"/>
                <a:cs typeface="Calibri"/>
                <a:sym typeface="Calibri"/>
              </a:rPr>
              <a:t> want to improve farmers access to market outlets by eliminating middlemen and facilitating the use of technology by rural sellers and buyers who may not be technologically savvy. Additionally, we want to reduce the level of wastage that occurs due to the lack of proper cold storage facilities and increase the income of small-scale farmers.</a:t>
            </a:r>
            <a:endParaRPr sz="1800" dirty="0">
              <a:solidFill>
                <a:schemeClr val="dk1"/>
              </a:solidFill>
              <a:latin typeface="Calibri"/>
              <a:ea typeface="Calibri"/>
              <a:cs typeface="Calibri"/>
              <a:sym typeface="Calibri"/>
            </a:endParaRPr>
          </a:p>
          <a:p>
            <a:pPr marL="279400" marR="0" lvl="0" indent="-279400" algn="l" rtl="0">
              <a:spcBef>
                <a:spcPts val="1000"/>
              </a:spcBef>
              <a:spcAft>
                <a:spcPts val="0"/>
              </a:spcAft>
              <a:buClr>
                <a:schemeClr val="accent1"/>
              </a:buClr>
              <a:buSzPts val="1800"/>
              <a:buFont typeface="Calibri"/>
              <a:buChar char="•"/>
            </a:pPr>
            <a:r>
              <a:rPr lang="en-US" sz="1800" b="1" i="0" u="none" strike="noStrike" cap="none" dirty="0">
                <a:solidFill>
                  <a:schemeClr val="dk1"/>
                </a:solidFill>
                <a:latin typeface="Calibri"/>
                <a:ea typeface="Calibri"/>
                <a:cs typeface="Calibri"/>
                <a:sym typeface="Calibri"/>
              </a:rPr>
              <a:t>What successful improvement</a:t>
            </a:r>
            <a:r>
              <a:rPr lang="en-US" sz="1800" b="1" dirty="0">
                <a:solidFill>
                  <a:schemeClr val="dk1"/>
                </a:solidFill>
                <a:latin typeface="Calibri"/>
                <a:ea typeface="Calibri"/>
                <a:cs typeface="Calibri"/>
                <a:sym typeface="Calibri"/>
              </a:rPr>
              <a:t> we intend to </a:t>
            </a:r>
            <a:r>
              <a:rPr lang="en-US" sz="1800" b="1" i="0" u="none" strike="noStrike" cap="none" dirty="0" err="1">
                <a:solidFill>
                  <a:schemeClr val="dk1"/>
                </a:solidFill>
                <a:latin typeface="Calibri"/>
                <a:ea typeface="Calibri"/>
                <a:cs typeface="Calibri"/>
                <a:sym typeface="Calibri"/>
              </a:rPr>
              <a:t>achieve:</a:t>
            </a:r>
            <a:r>
              <a:rPr lang="en-US" sz="1800" dirty="0" err="1">
                <a:solidFill>
                  <a:schemeClr val="dk1"/>
                </a:solidFill>
                <a:latin typeface="Calibri"/>
                <a:ea typeface="Calibri"/>
                <a:cs typeface="Calibri"/>
                <a:sym typeface="Calibri"/>
              </a:rPr>
              <a:t>To</a:t>
            </a:r>
            <a:r>
              <a:rPr lang="en-US" sz="1800" dirty="0">
                <a:solidFill>
                  <a:schemeClr val="dk1"/>
                </a:solidFill>
                <a:latin typeface="Calibri"/>
                <a:ea typeface="Calibri"/>
                <a:cs typeface="Calibri"/>
                <a:sym typeface="Calibri"/>
              </a:rPr>
              <a:t> increase farmers' profits: eliminate the middlemen cost, connect them to multiple buyers in an instant, and prevent loss of produce due to lack of cold storage and market knowledge. Success would be measured in users across multiple languages and level of ease of use for the application.</a:t>
            </a:r>
            <a:endParaRPr sz="1800" dirty="0">
              <a:solidFill>
                <a:schemeClr val="dk1"/>
              </a:solidFill>
              <a:latin typeface="Calibri"/>
              <a:ea typeface="Calibri"/>
              <a:cs typeface="Calibri"/>
              <a:sym typeface="Calibri"/>
            </a:endParaRPr>
          </a:p>
        </p:txBody>
      </p:sp>
      <p:sp>
        <p:nvSpPr>
          <p:cNvPr id="112" name="Google Shape;112;p10"/>
          <p:cNvSpPr txBox="1">
            <a:spLocks noGrp="1"/>
          </p:cNvSpPr>
          <p:nvPr>
            <p:ph type="sldNum" idx="4294967295"/>
          </p:nvPr>
        </p:nvSpPr>
        <p:spPr>
          <a:xfrm>
            <a:off x="11259007" y="6409944"/>
            <a:ext cx="457200" cy="396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fld id="{00000000-1234-1234-1234-123412341234}" type="slidenum">
              <a:rPr lang="en-US" sz="1100" b="1" i="0" u="none" strike="noStrike" cap="none">
                <a:solidFill>
                  <a:schemeClr val="dk2"/>
                </a:solidFill>
                <a:latin typeface="Calibri"/>
                <a:ea typeface="Calibri"/>
                <a:cs typeface="Calibri"/>
                <a:sym typeface="Calibri"/>
              </a:rPr>
              <a:t>8</a:t>
            </a:fld>
            <a:endParaRPr sz="1100" b="0" i="0" u="none" strike="noStrike" cap="none">
              <a:solidFill>
                <a:schemeClr val="dk2"/>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Genesis Ideathon">
  <a:themeElements>
    <a:clrScheme name="Genesis Ideathon">
      <a:dk1>
        <a:srgbClr val="0E2A2F"/>
      </a:dk1>
      <a:lt1>
        <a:srgbClr val="FFFFFF"/>
      </a:lt1>
      <a:dk2>
        <a:srgbClr val="052B35"/>
      </a:dk2>
      <a:lt2>
        <a:srgbClr val="F3F8F5"/>
      </a:lt2>
      <a:accent1>
        <a:srgbClr val="026855"/>
      </a:accent1>
      <a:accent2>
        <a:srgbClr val="094542"/>
      </a:accent2>
      <a:accent3>
        <a:srgbClr val="7AC143"/>
      </a:accent3>
      <a:accent4>
        <a:srgbClr val="4FA278"/>
      </a:accent4>
      <a:accent5>
        <a:srgbClr val="5B6F6B"/>
      </a:accent5>
      <a:accent6>
        <a:srgbClr val="D3E6DD"/>
      </a:accent6>
      <a:hlink>
        <a:srgbClr val="026855"/>
      </a:hlink>
      <a:folHlink>
        <a:srgbClr val="5B6F6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Genesis Ideathon">
  <a:themeElements>
    <a:clrScheme name="Genesis Ideathon">
      <a:dk1>
        <a:srgbClr val="0E2A2F"/>
      </a:dk1>
      <a:lt1>
        <a:srgbClr val="FFFFFF"/>
      </a:lt1>
      <a:dk2>
        <a:srgbClr val="052B35"/>
      </a:dk2>
      <a:lt2>
        <a:srgbClr val="F3F8F5"/>
      </a:lt2>
      <a:accent1>
        <a:srgbClr val="026855"/>
      </a:accent1>
      <a:accent2>
        <a:srgbClr val="094542"/>
      </a:accent2>
      <a:accent3>
        <a:srgbClr val="7AC143"/>
      </a:accent3>
      <a:accent4>
        <a:srgbClr val="4FA278"/>
      </a:accent4>
      <a:accent5>
        <a:srgbClr val="5B6F6B"/>
      </a:accent5>
      <a:accent6>
        <a:srgbClr val="D3E6DD"/>
      </a:accent6>
      <a:hlink>
        <a:srgbClr val="026855"/>
      </a:hlink>
      <a:folHlink>
        <a:srgbClr val="5B6F6B"/>
      </a:folHlink>
    </a:clrScheme>
    <a:fontScheme name="Genesis Ideath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Genesis Ideathon">
  <a:themeElements>
    <a:clrScheme name="Genesis Ideathon">
      <a:dk1>
        <a:srgbClr val="0E2A2F"/>
      </a:dk1>
      <a:lt1>
        <a:srgbClr val="FFFFFF"/>
      </a:lt1>
      <a:dk2>
        <a:srgbClr val="052B35"/>
      </a:dk2>
      <a:lt2>
        <a:srgbClr val="F3F8F5"/>
      </a:lt2>
      <a:accent1>
        <a:srgbClr val="026855"/>
      </a:accent1>
      <a:accent2>
        <a:srgbClr val="094542"/>
      </a:accent2>
      <a:accent3>
        <a:srgbClr val="7AC143"/>
      </a:accent3>
      <a:accent4>
        <a:srgbClr val="4FA278"/>
      </a:accent4>
      <a:accent5>
        <a:srgbClr val="5B6F6B"/>
      </a:accent5>
      <a:accent6>
        <a:srgbClr val="D3E6DD"/>
      </a:accent6>
      <a:hlink>
        <a:srgbClr val="026855"/>
      </a:hlink>
      <a:folHlink>
        <a:srgbClr val="5B6F6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861</Words>
  <Application>Microsoft Office PowerPoint</Application>
  <PresentationFormat>Widescreen</PresentationFormat>
  <Paragraphs>77</Paragraphs>
  <Slides>8</Slides>
  <Notes>8</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8</vt:i4>
      </vt:variant>
    </vt:vector>
  </HeadingPairs>
  <TitlesOfParts>
    <vt:vector size="13" baseType="lpstr">
      <vt:lpstr>Arial</vt:lpstr>
      <vt:lpstr>Calibri</vt:lpstr>
      <vt:lpstr>Cambria</vt:lpstr>
      <vt:lpstr>Genesis Ideathon</vt:lpstr>
      <vt:lpstr>1_Genesis Ideathon</vt:lpstr>
      <vt:lpstr>PowerPoint Presentation</vt:lpstr>
      <vt:lpstr>DOMAIN PROBLEM IN OUR WORDS</vt:lpstr>
      <vt:lpstr>WHO IS AFFECTED?</vt:lpstr>
      <vt:lpstr>CURRENT SITUATION &amp; CONTEXT</vt:lpstr>
      <vt:lpstr>KEY CHALLENGES</vt:lpstr>
      <vt:lpstr>EXISTING SOLUTIONS / APPROACHES</vt:lpstr>
      <vt:lpstr>PROBLEM INSIGHTS &amp; OPPORTUNITY AREAS</vt:lpstr>
      <vt:lpstr>INITIAL DIRECTION &amp; EXPECTED OUTCOME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USER</dc:creator>
  <cp:lastModifiedBy>K B Aathika - [CB.SC.U4CSE26419]</cp:lastModifiedBy>
  <cp:revision>3</cp:revision>
  <dcterms:modified xsi:type="dcterms:W3CDTF">2026-10-09T17:58:20Z</dcterms:modified>
</cp:coreProperties>
</file>